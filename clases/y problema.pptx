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1"/>
  </p:sldMasterIdLst>
  <p:sldIdLst>
    <p:sldId id="262" r:id="rId2"/>
    <p:sldId id="263" r:id="rId3"/>
    <p:sldId id="283" r:id="rId4"/>
    <p:sldId id="284" r:id="rId5"/>
    <p:sldId id="285" r:id="rId6"/>
    <p:sldId id="272" r:id="rId7"/>
    <p:sldId id="303" r:id="rId8"/>
    <p:sldId id="286" r:id="rId9"/>
    <p:sldId id="304" r:id="rId10"/>
    <p:sldId id="273" r:id="rId11"/>
    <p:sldId id="275" r:id="rId12"/>
    <p:sldId id="276" r:id="rId13"/>
    <p:sldId id="274" r:id="rId14"/>
    <p:sldId id="277" r:id="rId15"/>
    <p:sldId id="271" r:id="rId16"/>
    <p:sldId id="278" r:id="rId17"/>
    <p:sldId id="279" r:id="rId18"/>
    <p:sldId id="280" r:id="rId19"/>
    <p:sldId id="266" r:id="rId20"/>
    <p:sldId id="306" r:id="rId21"/>
    <p:sldId id="305" r:id="rId22"/>
    <p:sldId id="267" r:id="rId23"/>
    <p:sldId id="287" r:id="rId24"/>
    <p:sldId id="268" r:id="rId25"/>
    <p:sldId id="269" r:id="rId26"/>
    <p:sldId id="281" r:id="rId27"/>
    <p:sldId id="288" r:id="rId28"/>
    <p:sldId id="307" r:id="rId29"/>
    <p:sldId id="308" r:id="rId30"/>
    <p:sldId id="270" r:id="rId31"/>
    <p:sldId id="289" r:id="rId32"/>
    <p:sldId id="291" r:id="rId33"/>
    <p:sldId id="292" r:id="rId34"/>
    <p:sldId id="293" r:id="rId35"/>
    <p:sldId id="290" r:id="rId36"/>
    <p:sldId id="294" r:id="rId37"/>
    <p:sldId id="295" r:id="rId38"/>
    <p:sldId id="296" r:id="rId39"/>
    <p:sldId id="297" r:id="rId40"/>
    <p:sldId id="298" r:id="rId41"/>
    <p:sldId id="301" r:id="rId42"/>
    <p:sldId id="302" r:id="rId43"/>
    <p:sldId id="299" r:id="rId44"/>
    <p:sldId id="264" r:id="rId45"/>
  </p:sldIdLst>
  <p:sldSz cx="12192000" cy="6858000"/>
  <p:notesSz cx="6858000" cy="9144000"/>
  <p:defaultTextStyle>
    <a:defPPr>
      <a:defRPr lang="es-E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4995" autoAdjust="0"/>
    <p:restoredTop sz="94660"/>
  </p:normalViewPr>
  <p:slideViewPr>
    <p:cSldViewPr snapToGrid="0">
      <p:cViewPr varScale="1">
        <p:scale>
          <a:sx n="75" d="100"/>
          <a:sy n="75" d="100"/>
        </p:scale>
        <p:origin x="902" y="43"/>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viewProps" Target="viewProps.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tableStyles" Target="tableStyles.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slide" Target="slides/slide43.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theme" Target="theme/theme1.xml"/><Relationship Id="rId8" Type="http://schemas.openxmlformats.org/officeDocument/2006/relationships/slide" Target="slides/slide7.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presProps" Target="presProps.xml"/><Relationship Id="rId20" Type="http://schemas.openxmlformats.org/officeDocument/2006/relationships/slide" Target="slides/slide19.xml"/><Relationship Id="rId41" Type="http://schemas.openxmlformats.org/officeDocument/2006/relationships/slide" Target="slides/slide40.xml"/><Relationship Id="rId1" Type="http://schemas.openxmlformats.org/officeDocument/2006/relationships/slideMaster" Target="slideMasters/slideMaster1.xml"/><Relationship Id="rId6" Type="http://schemas.openxmlformats.org/officeDocument/2006/relationships/slide" Target="slides/slide5.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Diapositiva de título">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EFD3DAC4-FC34-FF31-F727-D340D706AB59}"/>
              </a:ext>
            </a:extLst>
          </p:cNvPr>
          <p:cNvSpPr>
            <a:spLocks noGrp="1"/>
          </p:cNvSpPr>
          <p:nvPr>
            <p:ph type="ctrTitle"/>
          </p:nvPr>
        </p:nvSpPr>
        <p:spPr>
          <a:xfrm>
            <a:off x="1524000" y="1122363"/>
            <a:ext cx="9144000" cy="2387600"/>
          </a:xfrm>
        </p:spPr>
        <p:txBody>
          <a:bodyPr anchor="b"/>
          <a:lstStyle>
            <a:lvl1pPr algn="ctr">
              <a:defRPr sz="6000"/>
            </a:lvl1pPr>
          </a:lstStyle>
          <a:p>
            <a:r>
              <a:rPr lang="es-ES"/>
              <a:t>Haga clic para modificar el estilo de título del patrón</a:t>
            </a:r>
          </a:p>
        </p:txBody>
      </p:sp>
      <p:sp>
        <p:nvSpPr>
          <p:cNvPr id="3" name="Subtítulo 2">
            <a:extLst>
              <a:ext uri="{FF2B5EF4-FFF2-40B4-BE49-F238E27FC236}">
                <a16:creationId xmlns:a16="http://schemas.microsoft.com/office/drawing/2014/main" id="{909D7096-6BE3-95C6-F797-C502641F34E3}"/>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s-ES"/>
              <a:t>Haga clic para modificar el estilo de subtítulo del patrón</a:t>
            </a:r>
          </a:p>
        </p:txBody>
      </p:sp>
      <p:sp>
        <p:nvSpPr>
          <p:cNvPr id="4" name="Marcador de fecha 3">
            <a:extLst>
              <a:ext uri="{FF2B5EF4-FFF2-40B4-BE49-F238E27FC236}">
                <a16:creationId xmlns:a16="http://schemas.microsoft.com/office/drawing/2014/main" id="{C665A7C1-1A2F-000D-3A41-11E54D384F92}"/>
              </a:ext>
            </a:extLst>
          </p:cNvPr>
          <p:cNvSpPr>
            <a:spLocks noGrp="1"/>
          </p:cNvSpPr>
          <p:nvPr>
            <p:ph type="dt" sz="half" idx="10"/>
          </p:nvPr>
        </p:nvSpPr>
        <p:spPr/>
        <p:txBody>
          <a:bodyPr/>
          <a:lstStyle/>
          <a:p>
            <a:fld id="{C04603D3-6E9E-49FA-90FA-6A64D45EEC35}" type="datetimeFigureOut">
              <a:rPr lang="es-ES" smtClean="0"/>
              <a:t>07/10/2025</a:t>
            </a:fld>
            <a:endParaRPr lang="es-ES"/>
          </a:p>
        </p:txBody>
      </p:sp>
      <p:sp>
        <p:nvSpPr>
          <p:cNvPr id="5" name="Marcador de pie de página 4">
            <a:extLst>
              <a:ext uri="{FF2B5EF4-FFF2-40B4-BE49-F238E27FC236}">
                <a16:creationId xmlns:a16="http://schemas.microsoft.com/office/drawing/2014/main" id="{25412A34-1D0F-CA61-DC32-2D4C9818F0A8}"/>
              </a:ext>
            </a:extLst>
          </p:cNvPr>
          <p:cNvSpPr>
            <a:spLocks noGrp="1"/>
          </p:cNvSpPr>
          <p:nvPr>
            <p:ph type="ftr" sz="quarter" idx="11"/>
          </p:nvPr>
        </p:nvSpPr>
        <p:spPr/>
        <p:txBody>
          <a:bodyPr/>
          <a:lstStyle/>
          <a:p>
            <a:endParaRPr lang="es-ES"/>
          </a:p>
        </p:txBody>
      </p:sp>
      <p:sp>
        <p:nvSpPr>
          <p:cNvPr id="6" name="Marcador de número de diapositiva 5">
            <a:extLst>
              <a:ext uri="{FF2B5EF4-FFF2-40B4-BE49-F238E27FC236}">
                <a16:creationId xmlns:a16="http://schemas.microsoft.com/office/drawing/2014/main" id="{7F6C3FF4-C686-71E2-4267-00BE057F14DB}"/>
              </a:ext>
            </a:extLst>
          </p:cNvPr>
          <p:cNvSpPr>
            <a:spLocks noGrp="1"/>
          </p:cNvSpPr>
          <p:nvPr>
            <p:ph type="sldNum" sz="quarter" idx="12"/>
          </p:nvPr>
        </p:nvSpPr>
        <p:spPr/>
        <p:txBody>
          <a:bodyPr/>
          <a:lstStyle/>
          <a:p>
            <a:fld id="{F7333832-9493-48E0-A08F-6F7757B1EE9C}" type="slidenum">
              <a:rPr lang="es-ES" smtClean="0"/>
              <a:t>‹Nº›</a:t>
            </a:fld>
            <a:endParaRPr lang="es-ES"/>
          </a:p>
        </p:txBody>
      </p:sp>
    </p:spTree>
    <p:extLst>
      <p:ext uri="{BB962C8B-B14F-4D97-AF65-F5344CB8AC3E}">
        <p14:creationId xmlns:p14="http://schemas.microsoft.com/office/powerpoint/2010/main" val="2992576058"/>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ítulo y objetos">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7A853D13-A198-45FC-88F6-2562F21CD9D1}"/>
              </a:ext>
            </a:extLst>
          </p:cNvPr>
          <p:cNvSpPr>
            <a:spLocks noGrp="1"/>
          </p:cNvSpPr>
          <p:nvPr>
            <p:ph type="title"/>
          </p:nvPr>
        </p:nvSpPr>
        <p:spPr/>
        <p:txBody>
          <a:bodyPr/>
          <a:lstStyle/>
          <a:p>
            <a:r>
              <a:rPr lang="es-ES"/>
              <a:t>Haga clic para modificar el estilo de título del patrón</a:t>
            </a:r>
          </a:p>
        </p:txBody>
      </p:sp>
      <p:sp>
        <p:nvSpPr>
          <p:cNvPr id="3" name="Marcador de contenido 2">
            <a:extLst>
              <a:ext uri="{FF2B5EF4-FFF2-40B4-BE49-F238E27FC236}">
                <a16:creationId xmlns:a16="http://schemas.microsoft.com/office/drawing/2014/main" id="{37C044AF-47D3-8993-E063-B6168530E132}"/>
              </a:ext>
            </a:extLst>
          </p:cNvPr>
          <p:cNvSpPr>
            <a:spLocks noGrp="1"/>
          </p:cNvSpPr>
          <p:nvPr>
            <p:ph idx="1"/>
          </p:nvPr>
        </p:nvSpPr>
        <p:spPr/>
        <p:txBody>
          <a:bodyPr/>
          <a:lstStyle/>
          <a:p>
            <a:pPr lvl="0"/>
            <a:r>
              <a:rPr lang="es-ES" dirty="0"/>
              <a:t>Haga clic para modificar los estilos de texto del patrón</a:t>
            </a:r>
          </a:p>
          <a:p>
            <a:pPr lvl="1"/>
            <a:r>
              <a:rPr lang="es-ES" dirty="0"/>
              <a:t>Segundo nivel</a:t>
            </a:r>
          </a:p>
          <a:p>
            <a:pPr lvl="2"/>
            <a:r>
              <a:rPr lang="es-ES" dirty="0"/>
              <a:t>Tercer nivel</a:t>
            </a:r>
          </a:p>
          <a:p>
            <a:pPr lvl="3"/>
            <a:r>
              <a:rPr lang="es-ES" dirty="0"/>
              <a:t>Cuarto nivel</a:t>
            </a:r>
          </a:p>
          <a:p>
            <a:pPr lvl="4"/>
            <a:r>
              <a:rPr lang="es-ES" dirty="0"/>
              <a:t>Quinto nivel</a:t>
            </a:r>
          </a:p>
        </p:txBody>
      </p:sp>
      <p:sp>
        <p:nvSpPr>
          <p:cNvPr id="4" name="Marcador de fecha 3">
            <a:extLst>
              <a:ext uri="{FF2B5EF4-FFF2-40B4-BE49-F238E27FC236}">
                <a16:creationId xmlns:a16="http://schemas.microsoft.com/office/drawing/2014/main" id="{7D7DEC93-9F6D-4A5C-D8F2-627236F0961B}"/>
              </a:ext>
            </a:extLst>
          </p:cNvPr>
          <p:cNvSpPr>
            <a:spLocks noGrp="1"/>
          </p:cNvSpPr>
          <p:nvPr>
            <p:ph type="dt" sz="half" idx="10"/>
          </p:nvPr>
        </p:nvSpPr>
        <p:spPr/>
        <p:txBody>
          <a:bodyPr/>
          <a:lstStyle/>
          <a:p>
            <a:fld id="{C04603D3-6E9E-49FA-90FA-6A64D45EEC35}" type="datetimeFigureOut">
              <a:rPr lang="es-ES" smtClean="0"/>
              <a:t>07/10/2025</a:t>
            </a:fld>
            <a:endParaRPr lang="es-ES"/>
          </a:p>
        </p:txBody>
      </p:sp>
      <p:sp>
        <p:nvSpPr>
          <p:cNvPr id="5" name="Marcador de pie de página 4">
            <a:extLst>
              <a:ext uri="{FF2B5EF4-FFF2-40B4-BE49-F238E27FC236}">
                <a16:creationId xmlns:a16="http://schemas.microsoft.com/office/drawing/2014/main" id="{1378517D-55B6-0870-4BAD-BC49489ED7BC}"/>
              </a:ext>
            </a:extLst>
          </p:cNvPr>
          <p:cNvSpPr>
            <a:spLocks noGrp="1"/>
          </p:cNvSpPr>
          <p:nvPr>
            <p:ph type="ftr" sz="quarter" idx="11"/>
          </p:nvPr>
        </p:nvSpPr>
        <p:spPr/>
        <p:txBody>
          <a:bodyPr/>
          <a:lstStyle/>
          <a:p>
            <a:endParaRPr lang="es-ES"/>
          </a:p>
        </p:txBody>
      </p:sp>
      <p:sp>
        <p:nvSpPr>
          <p:cNvPr id="6" name="Marcador de número de diapositiva 5">
            <a:extLst>
              <a:ext uri="{FF2B5EF4-FFF2-40B4-BE49-F238E27FC236}">
                <a16:creationId xmlns:a16="http://schemas.microsoft.com/office/drawing/2014/main" id="{806E7F7C-08F5-22B9-0BCD-F6E8D97D1711}"/>
              </a:ext>
            </a:extLst>
          </p:cNvPr>
          <p:cNvSpPr>
            <a:spLocks noGrp="1"/>
          </p:cNvSpPr>
          <p:nvPr>
            <p:ph type="sldNum" sz="quarter" idx="12"/>
          </p:nvPr>
        </p:nvSpPr>
        <p:spPr/>
        <p:txBody>
          <a:bodyPr/>
          <a:lstStyle/>
          <a:p>
            <a:fld id="{F7333832-9493-48E0-A08F-6F7757B1EE9C}" type="slidenum">
              <a:rPr lang="es-ES" smtClean="0"/>
              <a:t>‹Nº›</a:t>
            </a:fld>
            <a:endParaRPr lang="es-ES"/>
          </a:p>
        </p:txBody>
      </p:sp>
    </p:spTree>
    <p:extLst>
      <p:ext uri="{BB962C8B-B14F-4D97-AF65-F5344CB8AC3E}">
        <p14:creationId xmlns:p14="http://schemas.microsoft.com/office/powerpoint/2010/main" val="2971377541"/>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Encabezado de sección">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9178094E-FD25-AD79-F61D-5FFCEBFB1462}"/>
              </a:ext>
            </a:extLst>
          </p:cNvPr>
          <p:cNvSpPr>
            <a:spLocks noGrp="1"/>
          </p:cNvSpPr>
          <p:nvPr>
            <p:ph type="title"/>
          </p:nvPr>
        </p:nvSpPr>
        <p:spPr>
          <a:xfrm>
            <a:off x="831850" y="1709738"/>
            <a:ext cx="10515600" cy="2852737"/>
          </a:xfrm>
        </p:spPr>
        <p:txBody>
          <a:bodyPr anchor="b"/>
          <a:lstStyle>
            <a:lvl1pPr>
              <a:defRPr sz="6000"/>
            </a:lvl1pPr>
          </a:lstStyle>
          <a:p>
            <a:r>
              <a:rPr lang="es-ES"/>
              <a:t>Haga clic para modificar el estilo de título del patrón</a:t>
            </a:r>
          </a:p>
        </p:txBody>
      </p:sp>
      <p:sp>
        <p:nvSpPr>
          <p:cNvPr id="3" name="Marcador de texto 2">
            <a:extLst>
              <a:ext uri="{FF2B5EF4-FFF2-40B4-BE49-F238E27FC236}">
                <a16:creationId xmlns:a16="http://schemas.microsoft.com/office/drawing/2014/main" id="{039FED5C-4CEA-7F52-FE88-C99F40F57A64}"/>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s-ES"/>
              <a:t>Haga clic para modificar los estilos de texto del patrón</a:t>
            </a:r>
          </a:p>
        </p:txBody>
      </p:sp>
      <p:sp>
        <p:nvSpPr>
          <p:cNvPr id="4" name="Marcador de fecha 3">
            <a:extLst>
              <a:ext uri="{FF2B5EF4-FFF2-40B4-BE49-F238E27FC236}">
                <a16:creationId xmlns:a16="http://schemas.microsoft.com/office/drawing/2014/main" id="{3DCCAB40-48CE-1908-36EE-4AAE95036A5B}"/>
              </a:ext>
            </a:extLst>
          </p:cNvPr>
          <p:cNvSpPr>
            <a:spLocks noGrp="1"/>
          </p:cNvSpPr>
          <p:nvPr>
            <p:ph type="dt" sz="half" idx="10"/>
          </p:nvPr>
        </p:nvSpPr>
        <p:spPr/>
        <p:txBody>
          <a:bodyPr/>
          <a:lstStyle/>
          <a:p>
            <a:fld id="{C04603D3-6E9E-49FA-90FA-6A64D45EEC35}" type="datetimeFigureOut">
              <a:rPr lang="es-ES" smtClean="0"/>
              <a:t>07/10/2025</a:t>
            </a:fld>
            <a:endParaRPr lang="es-ES"/>
          </a:p>
        </p:txBody>
      </p:sp>
      <p:sp>
        <p:nvSpPr>
          <p:cNvPr id="5" name="Marcador de pie de página 4">
            <a:extLst>
              <a:ext uri="{FF2B5EF4-FFF2-40B4-BE49-F238E27FC236}">
                <a16:creationId xmlns:a16="http://schemas.microsoft.com/office/drawing/2014/main" id="{CA11DE0E-F8FF-B785-E4B6-6235586F7E74}"/>
              </a:ext>
            </a:extLst>
          </p:cNvPr>
          <p:cNvSpPr>
            <a:spLocks noGrp="1"/>
          </p:cNvSpPr>
          <p:nvPr>
            <p:ph type="ftr" sz="quarter" idx="11"/>
          </p:nvPr>
        </p:nvSpPr>
        <p:spPr/>
        <p:txBody>
          <a:bodyPr/>
          <a:lstStyle/>
          <a:p>
            <a:endParaRPr lang="es-ES"/>
          </a:p>
        </p:txBody>
      </p:sp>
      <p:sp>
        <p:nvSpPr>
          <p:cNvPr id="6" name="Marcador de número de diapositiva 5">
            <a:extLst>
              <a:ext uri="{FF2B5EF4-FFF2-40B4-BE49-F238E27FC236}">
                <a16:creationId xmlns:a16="http://schemas.microsoft.com/office/drawing/2014/main" id="{0FFC632A-9BF7-2842-AA38-36CF8659D33C}"/>
              </a:ext>
            </a:extLst>
          </p:cNvPr>
          <p:cNvSpPr>
            <a:spLocks noGrp="1"/>
          </p:cNvSpPr>
          <p:nvPr>
            <p:ph type="sldNum" sz="quarter" idx="12"/>
          </p:nvPr>
        </p:nvSpPr>
        <p:spPr/>
        <p:txBody>
          <a:bodyPr/>
          <a:lstStyle/>
          <a:p>
            <a:fld id="{F7333832-9493-48E0-A08F-6F7757B1EE9C}" type="slidenum">
              <a:rPr lang="es-ES" smtClean="0"/>
              <a:t>‹Nº›</a:t>
            </a:fld>
            <a:endParaRPr lang="es-ES"/>
          </a:p>
        </p:txBody>
      </p:sp>
    </p:spTree>
    <p:extLst>
      <p:ext uri="{BB962C8B-B14F-4D97-AF65-F5344CB8AC3E}">
        <p14:creationId xmlns:p14="http://schemas.microsoft.com/office/powerpoint/2010/main" val="1400508944"/>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Dos objetos">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23E17E00-5202-9C86-0AA1-171C2846739E}"/>
              </a:ext>
            </a:extLst>
          </p:cNvPr>
          <p:cNvSpPr>
            <a:spLocks noGrp="1"/>
          </p:cNvSpPr>
          <p:nvPr>
            <p:ph type="title"/>
          </p:nvPr>
        </p:nvSpPr>
        <p:spPr/>
        <p:txBody>
          <a:bodyPr/>
          <a:lstStyle/>
          <a:p>
            <a:r>
              <a:rPr lang="es-ES"/>
              <a:t>Haga clic para modificar el estilo de título del patrón</a:t>
            </a:r>
          </a:p>
        </p:txBody>
      </p:sp>
      <p:sp>
        <p:nvSpPr>
          <p:cNvPr id="3" name="Marcador de contenido 2">
            <a:extLst>
              <a:ext uri="{FF2B5EF4-FFF2-40B4-BE49-F238E27FC236}">
                <a16:creationId xmlns:a16="http://schemas.microsoft.com/office/drawing/2014/main" id="{E4A9F2FF-59CF-5A35-27A4-AC997A99E0E1}"/>
              </a:ext>
            </a:extLst>
          </p:cNvPr>
          <p:cNvSpPr>
            <a:spLocks noGrp="1"/>
          </p:cNvSpPr>
          <p:nvPr>
            <p:ph sz="half" idx="1"/>
          </p:nvPr>
        </p:nvSpPr>
        <p:spPr>
          <a:xfrm>
            <a:off x="838200" y="1825625"/>
            <a:ext cx="5181600" cy="4351338"/>
          </a:xfrm>
        </p:spPr>
        <p:txBody>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p>
        </p:txBody>
      </p:sp>
      <p:sp>
        <p:nvSpPr>
          <p:cNvPr id="4" name="Marcador de contenido 3">
            <a:extLst>
              <a:ext uri="{FF2B5EF4-FFF2-40B4-BE49-F238E27FC236}">
                <a16:creationId xmlns:a16="http://schemas.microsoft.com/office/drawing/2014/main" id="{A3741172-6B2E-BAAC-9337-316EDE5FCFFA}"/>
              </a:ext>
            </a:extLst>
          </p:cNvPr>
          <p:cNvSpPr>
            <a:spLocks noGrp="1"/>
          </p:cNvSpPr>
          <p:nvPr>
            <p:ph sz="half" idx="2"/>
          </p:nvPr>
        </p:nvSpPr>
        <p:spPr>
          <a:xfrm>
            <a:off x="6172200" y="1825625"/>
            <a:ext cx="5181600" cy="4351338"/>
          </a:xfrm>
        </p:spPr>
        <p:txBody>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p>
        </p:txBody>
      </p:sp>
      <p:sp>
        <p:nvSpPr>
          <p:cNvPr id="5" name="Marcador de fecha 4">
            <a:extLst>
              <a:ext uri="{FF2B5EF4-FFF2-40B4-BE49-F238E27FC236}">
                <a16:creationId xmlns:a16="http://schemas.microsoft.com/office/drawing/2014/main" id="{A2F65DD4-05DC-BE0E-4CA8-E5CDF111C77F}"/>
              </a:ext>
            </a:extLst>
          </p:cNvPr>
          <p:cNvSpPr>
            <a:spLocks noGrp="1"/>
          </p:cNvSpPr>
          <p:nvPr>
            <p:ph type="dt" sz="half" idx="10"/>
          </p:nvPr>
        </p:nvSpPr>
        <p:spPr/>
        <p:txBody>
          <a:bodyPr/>
          <a:lstStyle/>
          <a:p>
            <a:fld id="{C04603D3-6E9E-49FA-90FA-6A64D45EEC35}" type="datetimeFigureOut">
              <a:rPr lang="es-ES" smtClean="0"/>
              <a:t>07/10/2025</a:t>
            </a:fld>
            <a:endParaRPr lang="es-ES"/>
          </a:p>
        </p:txBody>
      </p:sp>
      <p:sp>
        <p:nvSpPr>
          <p:cNvPr id="6" name="Marcador de pie de página 5">
            <a:extLst>
              <a:ext uri="{FF2B5EF4-FFF2-40B4-BE49-F238E27FC236}">
                <a16:creationId xmlns:a16="http://schemas.microsoft.com/office/drawing/2014/main" id="{73D8B650-C4D3-3CC7-13D4-3CF7FDA62176}"/>
              </a:ext>
            </a:extLst>
          </p:cNvPr>
          <p:cNvSpPr>
            <a:spLocks noGrp="1"/>
          </p:cNvSpPr>
          <p:nvPr>
            <p:ph type="ftr" sz="quarter" idx="11"/>
          </p:nvPr>
        </p:nvSpPr>
        <p:spPr/>
        <p:txBody>
          <a:bodyPr/>
          <a:lstStyle/>
          <a:p>
            <a:endParaRPr lang="es-ES"/>
          </a:p>
        </p:txBody>
      </p:sp>
      <p:sp>
        <p:nvSpPr>
          <p:cNvPr id="7" name="Marcador de número de diapositiva 6">
            <a:extLst>
              <a:ext uri="{FF2B5EF4-FFF2-40B4-BE49-F238E27FC236}">
                <a16:creationId xmlns:a16="http://schemas.microsoft.com/office/drawing/2014/main" id="{AAD349A3-19A2-1EE3-A3D0-4C9374BDB79C}"/>
              </a:ext>
            </a:extLst>
          </p:cNvPr>
          <p:cNvSpPr>
            <a:spLocks noGrp="1"/>
          </p:cNvSpPr>
          <p:nvPr>
            <p:ph type="sldNum" sz="quarter" idx="12"/>
          </p:nvPr>
        </p:nvSpPr>
        <p:spPr/>
        <p:txBody>
          <a:bodyPr/>
          <a:lstStyle/>
          <a:p>
            <a:fld id="{F7333832-9493-48E0-A08F-6F7757B1EE9C}" type="slidenum">
              <a:rPr lang="es-ES" smtClean="0"/>
              <a:t>‹Nº›</a:t>
            </a:fld>
            <a:endParaRPr lang="es-ES"/>
          </a:p>
        </p:txBody>
      </p:sp>
    </p:spTree>
    <p:extLst>
      <p:ext uri="{BB962C8B-B14F-4D97-AF65-F5344CB8AC3E}">
        <p14:creationId xmlns:p14="http://schemas.microsoft.com/office/powerpoint/2010/main" val="3577292681"/>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ación">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FECFD7B9-2D2D-26FD-4DA8-47D472E1DA69}"/>
              </a:ext>
            </a:extLst>
          </p:cNvPr>
          <p:cNvSpPr>
            <a:spLocks noGrp="1"/>
          </p:cNvSpPr>
          <p:nvPr>
            <p:ph type="title"/>
          </p:nvPr>
        </p:nvSpPr>
        <p:spPr>
          <a:xfrm>
            <a:off x="839788" y="365125"/>
            <a:ext cx="10515600" cy="1325563"/>
          </a:xfrm>
        </p:spPr>
        <p:txBody>
          <a:bodyPr/>
          <a:lstStyle/>
          <a:p>
            <a:r>
              <a:rPr lang="es-ES"/>
              <a:t>Haga clic para modificar el estilo de título del patrón</a:t>
            </a:r>
          </a:p>
        </p:txBody>
      </p:sp>
      <p:sp>
        <p:nvSpPr>
          <p:cNvPr id="3" name="Marcador de texto 2">
            <a:extLst>
              <a:ext uri="{FF2B5EF4-FFF2-40B4-BE49-F238E27FC236}">
                <a16:creationId xmlns:a16="http://schemas.microsoft.com/office/drawing/2014/main" id="{21A13E8B-25F2-B7A0-9CF2-C6192524F5AC}"/>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s-ES"/>
              <a:t>Haga clic para modificar los estilos de texto del patrón</a:t>
            </a:r>
          </a:p>
        </p:txBody>
      </p:sp>
      <p:sp>
        <p:nvSpPr>
          <p:cNvPr id="4" name="Marcador de contenido 3">
            <a:extLst>
              <a:ext uri="{FF2B5EF4-FFF2-40B4-BE49-F238E27FC236}">
                <a16:creationId xmlns:a16="http://schemas.microsoft.com/office/drawing/2014/main" id="{E5A279D1-2964-29A7-9F1E-4DFD46E2D64B}"/>
              </a:ext>
            </a:extLst>
          </p:cNvPr>
          <p:cNvSpPr>
            <a:spLocks noGrp="1"/>
          </p:cNvSpPr>
          <p:nvPr>
            <p:ph sz="half" idx="2"/>
          </p:nvPr>
        </p:nvSpPr>
        <p:spPr>
          <a:xfrm>
            <a:off x="839788" y="2505075"/>
            <a:ext cx="5157787" cy="3684588"/>
          </a:xfrm>
        </p:spPr>
        <p:txBody>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p>
        </p:txBody>
      </p:sp>
      <p:sp>
        <p:nvSpPr>
          <p:cNvPr id="5" name="Marcador de texto 4">
            <a:extLst>
              <a:ext uri="{FF2B5EF4-FFF2-40B4-BE49-F238E27FC236}">
                <a16:creationId xmlns:a16="http://schemas.microsoft.com/office/drawing/2014/main" id="{CEC7ED65-0B82-0AE0-CA18-9F2F717BF776}"/>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s-ES"/>
              <a:t>Haga clic para modificar los estilos de texto del patrón</a:t>
            </a:r>
          </a:p>
        </p:txBody>
      </p:sp>
      <p:sp>
        <p:nvSpPr>
          <p:cNvPr id="6" name="Marcador de contenido 5">
            <a:extLst>
              <a:ext uri="{FF2B5EF4-FFF2-40B4-BE49-F238E27FC236}">
                <a16:creationId xmlns:a16="http://schemas.microsoft.com/office/drawing/2014/main" id="{D12A3F05-9713-F246-2994-5DCD7CC7B7AC}"/>
              </a:ext>
            </a:extLst>
          </p:cNvPr>
          <p:cNvSpPr>
            <a:spLocks noGrp="1"/>
          </p:cNvSpPr>
          <p:nvPr>
            <p:ph sz="quarter" idx="4"/>
          </p:nvPr>
        </p:nvSpPr>
        <p:spPr>
          <a:xfrm>
            <a:off x="6172200" y="2505075"/>
            <a:ext cx="5183188" cy="3684588"/>
          </a:xfrm>
        </p:spPr>
        <p:txBody>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p>
        </p:txBody>
      </p:sp>
      <p:sp>
        <p:nvSpPr>
          <p:cNvPr id="7" name="Marcador de fecha 6">
            <a:extLst>
              <a:ext uri="{FF2B5EF4-FFF2-40B4-BE49-F238E27FC236}">
                <a16:creationId xmlns:a16="http://schemas.microsoft.com/office/drawing/2014/main" id="{08282E86-A68A-8522-987C-6D6775D356A5}"/>
              </a:ext>
            </a:extLst>
          </p:cNvPr>
          <p:cNvSpPr>
            <a:spLocks noGrp="1"/>
          </p:cNvSpPr>
          <p:nvPr>
            <p:ph type="dt" sz="half" idx="10"/>
          </p:nvPr>
        </p:nvSpPr>
        <p:spPr/>
        <p:txBody>
          <a:bodyPr/>
          <a:lstStyle/>
          <a:p>
            <a:fld id="{C04603D3-6E9E-49FA-90FA-6A64D45EEC35}" type="datetimeFigureOut">
              <a:rPr lang="es-ES" smtClean="0"/>
              <a:t>07/10/2025</a:t>
            </a:fld>
            <a:endParaRPr lang="es-ES"/>
          </a:p>
        </p:txBody>
      </p:sp>
      <p:sp>
        <p:nvSpPr>
          <p:cNvPr id="8" name="Marcador de pie de página 7">
            <a:extLst>
              <a:ext uri="{FF2B5EF4-FFF2-40B4-BE49-F238E27FC236}">
                <a16:creationId xmlns:a16="http://schemas.microsoft.com/office/drawing/2014/main" id="{C16C620B-6F69-87E7-DEDB-F37C270BC803}"/>
              </a:ext>
            </a:extLst>
          </p:cNvPr>
          <p:cNvSpPr>
            <a:spLocks noGrp="1"/>
          </p:cNvSpPr>
          <p:nvPr>
            <p:ph type="ftr" sz="quarter" idx="11"/>
          </p:nvPr>
        </p:nvSpPr>
        <p:spPr/>
        <p:txBody>
          <a:bodyPr/>
          <a:lstStyle/>
          <a:p>
            <a:endParaRPr lang="es-ES"/>
          </a:p>
        </p:txBody>
      </p:sp>
      <p:sp>
        <p:nvSpPr>
          <p:cNvPr id="9" name="Marcador de número de diapositiva 8">
            <a:extLst>
              <a:ext uri="{FF2B5EF4-FFF2-40B4-BE49-F238E27FC236}">
                <a16:creationId xmlns:a16="http://schemas.microsoft.com/office/drawing/2014/main" id="{0C1A4E77-BF14-C3B4-F6E1-B35D4B1C87F3}"/>
              </a:ext>
            </a:extLst>
          </p:cNvPr>
          <p:cNvSpPr>
            <a:spLocks noGrp="1"/>
          </p:cNvSpPr>
          <p:nvPr>
            <p:ph type="sldNum" sz="quarter" idx="12"/>
          </p:nvPr>
        </p:nvSpPr>
        <p:spPr/>
        <p:txBody>
          <a:bodyPr/>
          <a:lstStyle/>
          <a:p>
            <a:fld id="{F7333832-9493-48E0-A08F-6F7757B1EE9C}" type="slidenum">
              <a:rPr lang="es-ES" smtClean="0"/>
              <a:t>‹Nº›</a:t>
            </a:fld>
            <a:endParaRPr lang="es-ES"/>
          </a:p>
        </p:txBody>
      </p:sp>
    </p:spTree>
    <p:extLst>
      <p:ext uri="{BB962C8B-B14F-4D97-AF65-F5344CB8AC3E}">
        <p14:creationId xmlns:p14="http://schemas.microsoft.com/office/powerpoint/2010/main" val="257057059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Solo el título">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DF11E654-F897-F0FD-A081-99A2AF60FE8F}"/>
              </a:ext>
            </a:extLst>
          </p:cNvPr>
          <p:cNvSpPr>
            <a:spLocks noGrp="1"/>
          </p:cNvSpPr>
          <p:nvPr>
            <p:ph type="title"/>
          </p:nvPr>
        </p:nvSpPr>
        <p:spPr/>
        <p:txBody>
          <a:bodyPr/>
          <a:lstStyle/>
          <a:p>
            <a:r>
              <a:rPr lang="es-ES"/>
              <a:t>Haga clic para modificar el estilo de título del patrón</a:t>
            </a:r>
          </a:p>
        </p:txBody>
      </p:sp>
      <p:sp>
        <p:nvSpPr>
          <p:cNvPr id="3" name="Marcador de fecha 2">
            <a:extLst>
              <a:ext uri="{FF2B5EF4-FFF2-40B4-BE49-F238E27FC236}">
                <a16:creationId xmlns:a16="http://schemas.microsoft.com/office/drawing/2014/main" id="{E52FAFDB-BFFC-CD73-9DE4-AFD6FC058D7C}"/>
              </a:ext>
            </a:extLst>
          </p:cNvPr>
          <p:cNvSpPr>
            <a:spLocks noGrp="1"/>
          </p:cNvSpPr>
          <p:nvPr>
            <p:ph type="dt" sz="half" idx="10"/>
          </p:nvPr>
        </p:nvSpPr>
        <p:spPr/>
        <p:txBody>
          <a:bodyPr/>
          <a:lstStyle/>
          <a:p>
            <a:fld id="{C04603D3-6E9E-49FA-90FA-6A64D45EEC35}" type="datetimeFigureOut">
              <a:rPr lang="es-ES" smtClean="0"/>
              <a:t>07/10/2025</a:t>
            </a:fld>
            <a:endParaRPr lang="es-ES"/>
          </a:p>
        </p:txBody>
      </p:sp>
      <p:sp>
        <p:nvSpPr>
          <p:cNvPr id="4" name="Marcador de pie de página 3">
            <a:extLst>
              <a:ext uri="{FF2B5EF4-FFF2-40B4-BE49-F238E27FC236}">
                <a16:creationId xmlns:a16="http://schemas.microsoft.com/office/drawing/2014/main" id="{45D2154F-510A-7FD1-1ADB-FCC55E73526F}"/>
              </a:ext>
            </a:extLst>
          </p:cNvPr>
          <p:cNvSpPr>
            <a:spLocks noGrp="1"/>
          </p:cNvSpPr>
          <p:nvPr>
            <p:ph type="ftr" sz="quarter" idx="11"/>
          </p:nvPr>
        </p:nvSpPr>
        <p:spPr/>
        <p:txBody>
          <a:bodyPr/>
          <a:lstStyle/>
          <a:p>
            <a:endParaRPr lang="es-ES"/>
          </a:p>
        </p:txBody>
      </p:sp>
      <p:sp>
        <p:nvSpPr>
          <p:cNvPr id="5" name="Marcador de número de diapositiva 4">
            <a:extLst>
              <a:ext uri="{FF2B5EF4-FFF2-40B4-BE49-F238E27FC236}">
                <a16:creationId xmlns:a16="http://schemas.microsoft.com/office/drawing/2014/main" id="{57DE3ECD-1313-BA17-D53C-76943CEFE9C9}"/>
              </a:ext>
            </a:extLst>
          </p:cNvPr>
          <p:cNvSpPr>
            <a:spLocks noGrp="1"/>
          </p:cNvSpPr>
          <p:nvPr>
            <p:ph type="sldNum" sz="quarter" idx="12"/>
          </p:nvPr>
        </p:nvSpPr>
        <p:spPr/>
        <p:txBody>
          <a:bodyPr/>
          <a:lstStyle/>
          <a:p>
            <a:fld id="{F7333832-9493-48E0-A08F-6F7757B1EE9C}" type="slidenum">
              <a:rPr lang="es-ES" smtClean="0"/>
              <a:t>‹Nº›</a:t>
            </a:fld>
            <a:endParaRPr lang="es-ES"/>
          </a:p>
        </p:txBody>
      </p:sp>
    </p:spTree>
    <p:extLst>
      <p:ext uri="{BB962C8B-B14F-4D97-AF65-F5344CB8AC3E}">
        <p14:creationId xmlns:p14="http://schemas.microsoft.com/office/powerpoint/2010/main" val="1187658896"/>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En blanco">
    <p:spTree>
      <p:nvGrpSpPr>
        <p:cNvPr id="1" name=""/>
        <p:cNvGrpSpPr/>
        <p:nvPr/>
      </p:nvGrpSpPr>
      <p:grpSpPr>
        <a:xfrm>
          <a:off x="0" y="0"/>
          <a:ext cx="0" cy="0"/>
          <a:chOff x="0" y="0"/>
          <a:chExt cx="0" cy="0"/>
        </a:xfrm>
      </p:grpSpPr>
      <p:sp>
        <p:nvSpPr>
          <p:cNvPr id="2" name="Marcador de fecha 1">
            <a:extLst>
              <a:ext uri="{FF2B5EF4-FFF2-40B4-BE49-F238E27FC236}">
                <a16:creationId xmlns:a16="http://schemas.microsoft.com/office/drawing/2014/main" id="{5D53F1DB-0A11-2B3B-118D-6AB13DABE2AE}"/>
              </a:ext>
            </a:extLst>
          </p:cNvPr>
          <p:cNvSpPr>
            <a:spLocks noGrp="1"/>
          </p:cNvSpPr>
          <p:nvPr>
            <p:ph type="dt" sz="half" idx="10"/>
          </p:nvPr>
        </p:nvSpPr>
        <p:spPr/>
        <p:txBody>
          <a:bodyPr/>
          <a:lstStyle/>
          <a:p>
            <a:fld id="{C04603D3-6E9E-49FA-90FA-6A64D45EEC35}" type="datetimeFigureOut">
              <a:rPr lang="es-ES" smtClean="0"/>
              <a:t>07/10/2025</a:t>
            </a:fld>
            <a:endParaRPr lang="es-ES"/>
          </a:p>
        </p:txBody>
      </p:sp>
      <p:sp>
        <p:nvSpPr>
          <p:cNvPr id="3" name="Marcador de pie de página 2">
            <a:extLst>
              <a:ext uri="{FF2B5EF4-FFF2-40B4-BE49-F238E27FC236}">
                <a16:creationId xmlns:a16="http://schemas.microsoft.com/office/drawing/2014/main" id="{91C7B59B-4300-0724-2DFB-73E940B8E90A}"/>
              </a:ext>
            </a:extLst>
          </p:cNvPr>
          <p:cNvSpPr>
            <a:spLocks noGrp="1"/>
          </p:cNvSpPr>
          <p:nvPr>
            <p:ph type="ftr" sz="quarter" idx="11"/>
          </p:nvPr>
        </p:nvSpPr>
        <p:spPr/>
        <p:txBody>
          <a:bodyPr/>
          <a:lstStyle/>
          <a:p>
            <a:endParaRPr lang="es-ES"/>
          </a:p>
        </p:txBody>
      </p:sp>
      <p:sp>
        <p:nvSpPr>
          <p:cNvPr id="4" name="Marcador de número de diapositiva 3">
            <a:extLst>
              <a:ext uri="{FF2B5EF4-FFF2-40B4-BE49-F238E27FC236}">
                <a16:creationId xmlns:a16="http://schemas.microsoft.com/office/drawing/2014/main" id="{90DD975A-C149-D5BC-644A-53AA0BAB0A0A}"/>
              </a:ext>
            </a:extLst>
          </p:cNvPr>
          <p:cNvSpPr>
            <a:spLocks noGrp="1"/>
          </p:cNvSpPr>
          <p:nvPr>
            <p:ph type="sldNum" sz="quarter" idx="12"/>
          </p:nvPr>
        </p:nvSpPr>
        <p:spPr/>
        <p:txBody>
          <a:bodyPr/>
          <a:lstStyle/>
          <a:p>
            <a:fld id="{F7333832-9493-48E0-A08F-6F7757B1EE9C}" type="slidenum">
              <a:rPr lang="es-ES" smtClean="0"/>
              <a:t>‹Nº›</a:t>
            </a:fld>
            <a:endParaRPr lang="es-ES"/>
          </a:p>
        </p:txBody>
      </p:sp>
    </p:spTree>
    <p:extLst>
      <p:ext uri="{BB962C8B-B14F-4D97-AF65-F5344CB8AC3E}">
        <p14:creationId xmlns:p14="http://schemas.microsoft.com/office/powerpoint/2010/main" val="1601247672"/>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ido con título">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8329B123-3AEC-9DC5-5A12-7F363DC6E000}"/>
              </a:ext>
            </a:extLst>
          </p:cNvPr>
          <p:cNvSpPr>
            <a:spLocks noGrp="1"/>
          </p:cNvSpPr>
          <p:nvPr>
            <p:ph type="title"/>
          </p:nvPr>
        </p:nvSpPr>
        <p:spPr>
          <a:xfrm>
            <a:off x="839788" y="457200"/>
            <a:ext cx="3932237" cy="1600200"/>
          </a:xfrm>
        </p:spPr>
        <p:txBody>
          <a:bodyPr anchor="b"/>
          <a:lstStyle>
            <a:lvl1pPr>
              <a:defRPr sz="3200"/>
            </a:lvl1pPr>
          </a:lstStyle>
          <a:p>
            <a:r>
              <a:rPr lang="es-ES"/>
              <a:t>Haga clic para modificar el estilo de título del patrón</a:t>
            </a:r>
          </a:p>
        </p:txBody>
      </p:sp>
      <p:sp>
        <p:nvSpPr>
          <p:cNvPr id="3" name="Marcador de contenido 2">
            <a:extLst>
              <a:ext uri="{FF2B5EF4-FFF2-40B4-BE49-F238E27FC236}">
                <a16:creationId xmlns:a16="http://schemas.microsoft.com/office/drawing/2014/main" id="{6B7C4201-F4BA-43F2-91CA-B56147278211}"/>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p>
        </p:txBody>
      </p:sp>
      <p:sp>
        <p:nvSpPr>
          <p:cNvPr id="4" name="Marcador de texto 3">
            <a:extLst>
              <a:ext uri="{FF2B5EF4-FFF2-40B4-BE49-F238E27FC236}">
                <a16:creationId xmlns:a16="http://schemas.microsoft.com/office/drawing/2014/main" id="{F9DA2EB8-5F34-2FF4-9704-E929F5B1265B}"/>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s-ES"/>
              <a:t>Haga clic para modificar los estilos de texto del patrón</a:t>
            </a:r>
          </a:p>
        </p:txBody>
      </p:sp>
      <p:sp>
        <p:nvSpPr>
          <p:cNvPr id="5" name="Marcador de fecha 4">
            <a:extLst>
              <a:ext uri="{FF2B5EF4-FFF2-40B4-BE49-F238E27FC236}">
                <a16:creationId xmlns:a16="http://schemas.microsoft.com/office/drawing/2014/main" id="{DD4B72BF-0A0A-A3B8-E76F-3CF4F7B3E74A}"/>
              </a:ext>
            </a:extLst>
          </p:cNvPr>
          <p:cNvSpPr>
            <a:spLocks noGrp="1"/>
          </p:cNvSpPr>
          <p:nvPr>
            <p:ph type="dt" sz="half" idx="10"/>
          </p:nvPr>
        </p:nvSpPr>
        <p:spPr/>
        <p:txBody>
          <a:bodyPr/>
          <a:lstStyle/>
          <a:p>
            <a:fld id="{C04603D3-6E9E-49FA-90FA-6A64D45EEC35}" type="datetimeFigureOut">
              <a:rPr lang="es-ES" smtClean="0"/>
              <a:t>07/10/2025</a:t>
            </a:fld>
            <a:endParaRPr lang="es-ES"/>
          </a:p>
        </p:txBody>
      </p:sp>
      <p:sp>
        <p:nvSpPr>
          <p:cNvPr id="6" name="Marcador de pie de página 5">
            <a:extLst>
              <a:ext uri="{FF2B5EF4-FFF2-40B4-BE49-F238E27FC236}">
                <a16:creationId xmlns:a16="http://schemas.microsoft.com/office/drawing/2014/main" id="{04F10C98-85FD-751A-C58B-E6B500B3088A}"/>
              </a:ext>
            </a:extLst>
          </p:cNvPr>
          <p:cNvSpPr>
            <a:spLocks noGrp="1"/>
          </p:cNvSpPr>
          <p:nvPr>
            <p:ph type="ftr" sz="quarter" idx="11"/>
          </p:nvPr>
        </p:nvSpPr>
        <p:spPr/>
        <p:txBody>
          <a:bodyPr/>
          <a:lstStyle/>
          <a:p>
            <a:endParaRPr lang="es-ES"/>
          </a:p>
        </p:txBody>
      </p:sp>
      <p:sp>
        <p:nvSpPr>
          <p:cNvPr id="7" name="Marcador de número de diapositiva 6">
            <a:extLst>
              <a:ext uri="{FF2B5EF4-FFF2-40B4-BE49-F238E27FC236}">
                <a16:creationId xmlns:a16="http://schemas.microsoft.com/office/drawing/2014/main" id="{13C24F7E-8713-8BEF-3353-D6C1EF0A0186}"/>
              </a:ext>
            </a:extLst>
          </p:cNvPr>
          <p:cNvSpPr>
            <a:spLocks noGrp="1"/>
          </p:cNvSpPr>
          <p:nvPr>
            <p:ph type="sldNum" sz="quarter" idx="12"/>
          </p:nvPr>
        </p:nvSpPr>
        <p:spPr/>
        <p:txBody>
          <a:bodyPr/>
          <a:lstStyle/>
          <a:p>
            <a:fld id="{F7333832-9493-48E0-A08F-6F7757B1EE9C}" type="slidenum">
              <a:rPr lang="es-ES" smtClean="0"/>
              <a:t>‹Nº›</a:t>
            </a:fld>
            <a:endParaRPr lang="es-ES"/>
          </a:p>
        </p:txBody>
      </p:sp>
    </p:spTree>
    <p:extLst>
      <p:ext uri="{BB962C8B-B14F-4D97-AF65-F5344CB8AC3E}">
        <p14:creationId xmlns:p14="http://schemas.microsoft.com/office/powerpoint/2010/main" val="1622834485"/>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Imagen con título">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29E74340-9D8C-149F-EBD6-011AA8E4154B}"/>
              </a:ext>
            </a:extLst>
          </p:cNvPr>
          <p:cNvSpPr>
            <a:spLocks noGrp="1"/>
          </p:cNvSpPr>
          <p:nvPr>
            <p:ph type="title"/>
          </p:nvPr>
        </p:nvSpPr>
        <p:spPr>
          <a:xfrm>
            <a:off x="839788" y="457200"/>
            <a:ext cx="3932237" cy="1600200"/>
          </a:xfrm>
        </p:spPr>
        <p:txBody>
          <a:bodyPr anchor="b"/>
          <a:lstStyle>
            <a:lvl1pPr>
              <a:defRPr sz="3200"/>
            </a:lvl1pPr>
          </a:lstStyle>
          <a:p>
            <a:r>
              <a:rPr lang="es-ES"/>
              <a:t>Haga clic para modificar el estilo de título del patrón</a:t>
            </a:r>
          </a:p>
        </p:txBody>
      </p:sp>
      <p:sp>
        <p:nvSpPr>
          <p:cNvPr id="3" name="Marcador de posición de imagen 2">
            <a:extLst>
              <a:ext uri="{FF2B5EF4-FFF2-40B4-BE49-F238E27FC236}">
                <a16:creationId xmlns:a16="http://schemas.microsoft.com/office/drawing/2014/main" id="{49B5E017-E27F-2928-B244-2824B1766C91}"/>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s-ES"/>
          </a:p>
        </p:txBody>
      </p:sp>
      <p:sp>
        <p:nvSpPr>
          <p:cNvPr id="4" name="Marcador de texto 3">
            <a:extLst>
              <a:ext uri="{FF2B5EF4-FFF2-40B4-BE49-F238E27FC236}">
                <a16:creationId xmlns:a16="http://schemas.microsoft.com/office/drawing/2014/main" id="{C16C3AA8-53B1-8ED7-349E-BFD7EA1B17C5}"/>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s-ES"/>
              <a:t>Haga clic para modificar los estilos de texto del patrón</a:t>
            </a:r>
          </a:p>
        </p:txBody>
      </p:sp>
      <p:sp>
        <p:nvSpPr>
          <p:cNvPr id="5" name="Marcador de fecha 4">
            <a:extLst>
              <a:ext uri="{FF2B5EF4-FFF2-40B4-BE49-F238E27FC236}">
                <a16:creationId xmlns:a16="http://schemas.microsoft.com/office/drawing/2014/main" id="{E0874113-4978-30EE-30E3-4A44B47CACE2}"/>
              </a:ext>
            </a:extLst>
          </p:cNvPr>
          <p:cNvSpPr>
            <a:spLocks noGrp="1"/>
          </p:cNvSpPr>
          <p:nvPr>
            <p:ph type="dt" sz="half" idx="10"/>
          </p:nvPr>
        </p:nvSpPr>
        <p:spPr/>
        <p:txBody>
          <a:bodyPr/>
          <a:lstStyle/>
          <a:p>
            <a:fld id="{C04603D3-6E9E-49FA-90FA-6A64D45EEC35}" type="datetimeFigureOut">
              <a:rPr lang="es-ES" smtClean="0"/>
              <a:t>07/10/2025</a:t>
            </a:fld>
            <a:endParaRPr lang="es-ES"/>
          </a:p>
        </p:txBody>
      </p:sp>
      <p:sp>
        <p:nvSpPr>
          <p:cNvPr id="6" name="Marcador de pie de página 5">
            <a:extLst>
              <a:ext uri="{FF2B5EF4-FFF2-40B4-BE49-F238E27FC236}">
                <a16:creationId xmlns:a16="http://schemas.microsoft.com/office/drawing/2014/main" id="{4030718E-8BF0-458D-B54F-D7E958C8887F}"/>
              </a:ext>
            </a:extLst>
          </p:cNvPr>
          <p:cNvSpPr>
            <a:spLocks noGrp="1"/>
          </p:cNvSpPr>
          <p:nvPr>
            <p:ph type="ftr" sz="quarter" idx="11"/>
          </p:nvPr>
        </p:nvSpPr>
        <p:spPr/>
        <p:txBody>
          <a:bodyPr/>
          <a:lstStyle/>
          <a:p>
            <a:endParaRPr lang="es-ES"/>
          </a:p>
        </p:txBody>
      </p:sp>
      <p:sp>
        <p:nvSpPr>
          <p:cNvPr id="7" name="Marcador de número de diapositiva 6">
            <a:extLst>
              <a:ext uri="{FF2B5EF4-FFF2-40B4-BE49-F238E27FC236}">
                <a16:creationId xmlns:a16="http://schemas.microsoft.com/office/drawing/2014/main" id="{17422367-72D8-5A57-89D6-813F37B70DA2}"/>
              </a:ext>
            </a:extLst>
          </p:cNvPr>
          <p:cNvSpPr>
            <a:spLocks noGrp="1"/>
          </p:cNvSpPr>
          <p:nvPr>
            <p:ph type="sldNum" sz="quarter" idx="12"/>
          </p:nvPr>
        </p:nvSpPr>
        <p:spPr/>
        <p:txBody>
          <a:bodyPr/>
          <a:lstStyle/>
          <a:p>
            <a:fld id="{F7333832-9493-48E0-A08F-6F7757B1EE9C}" type="slidenum">
              <a:rPr lang="es-ES" smtClean="0"/>
              <a:t>‹Nº›</a:t>
            </a:fld>
            <a:endParaRPr lang="es-ES"/>
          </a:p>
        </p:txBody>
      </p:sp>
    </p:spTree>
    <p:extLst>
      <p:ext uri="{BB962C8B-B14F-4D97-AF65-F5344CB8AC3E}">
        <p14:creationId xmlns:p14="http://schemas.microsoft.com/office/powerpoint/2010/main" val="1962112370"/>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ítulo y texto vertical">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4ED3CAB7-1353-40EE-090B-DAD0A1720621}"/>
              </a:ext>
            </a:extLst>
          </p:cNvPr>
          <p:cNvSpPr>
            <a:spLocks noGrp="1"/>
          </p:cNvSpPr>
          <p:nvPr>
            <p:ph type="title"/>
          </p:nvPr>
        </p:nvSpPr>
        <p:spPr/>
        <p:txBody>
          <a:bodyPr/>
          <a:lstStyle/>
          <a:p>
            <a:r>
              <a:rPr lang="es-ES"/>
              <a:t>Haga clic para modificar el estilo de título del patrón</a:t>
            </a:r>
          </a:p>
        </p:txBody>
      </p:sp>
      <p:sp>
        <p:nvSpPr>
          <p:cNvPr id="3" name="Marcador de texto vertical 2">
            <a:extLst>
              <a:ext uri="{FF2B5EF4-FFF2-40B4-BE49-F238E27FC236}">
                <a16:creationId xmlns:a16="http://schemas.microsoft.com/office/drawing/2014/main" id="{1AFB3708-8EF3-8722-11F7-B5D3EEC33D82}"/>
              </a:ext>
            </a:extLst>
          </p:cNvPr>
          <p:cNvSpPr>
            <a:spLocks noGrp="1"/>
          </p:cNvSpPr>
          <p:nvPr>
            <p:ph type="body" orient="vert" idx="1"/>
          </p:nvPr>
        </p:nvSpPr>
        <p:spPr/>
        <p:txBody>
          <a:bodyPr vert="eaVert"/>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p>
        </p:txBody>
      </p:sp>
      <p:sp>
        <p:nvSpPr>
          <p:cNvPr id="4" name="Marcador de fecha 3">
            <a:extLst>
              <a:ext uri="{FF2B5EF4-FFF2-40B4-BE49-F238E27FC236}">
                <a16:creationId xmlns:a16="http://schemas.microsoft.com/office/drawing/2014/main" id="{0B85F117-5538-8EFD-84D2-B189F4F248D9}"/>
              </a:ext>
            </a:extLst>
          </p:cNvPr>
          <p:cNvSpPr>
            <a:spLocks noGrp="1"/>
          </p:cNvSpPr>
          <p:nvPr>
            <p:ph type="dt" sz="half" idx="10"/>
          </p:nvPr>
        </p:nvSpPr>
        <p:spPr/>
        <p:txBody>
          <a:bodyPr/>
          <a:lstStyle/>
          <a:p>
            <a:fld id="{C04603D3-6E9E-49FA-90FA-6A64D45EEC35}" type="datetimeFigureOut">
              <a:rPr lang="es-ES" smtClean="0"/>
              <a:t>07/10/2025</a:t>
            </a:fld>
            <a:endParaRPr lang="es-ES"/>
          </a:p>
        </p:txBody>
      </p:sp>
      <p:sp>
        <p:nvSpPr>
          <p:cNvPr id="5" name="Marcador de pie de página 4">
            <a:extLst>
              <a:ext uri="{FF2B5EF4-FFF2-40B4-BE49-F238E27FC236}">
                <a16:creationId xmlns:a16="http://schemas.microsoft.com/office/drawing/2014/main" id="{0AEF09D3-4F0F-DD7A-AAF2-26FE7D3FD0F1}"/>
              </a:ext>
            </a:extLst>
          </p:cNvPr>
          <p:cNvSpPr>
            <a:spLocks noGrp="1"/>
          </p:cNvSpPr>
          <p:nvPr>
            <p:ph type="ftr" sz="quarter" idx="11"/>
          </p:nvPr>
        </p:nvSpPr>
        <p:spPr/>
        <p:txBody>
          <a:bodyPr/>
          <a:lstStyle/>
          <a:p>
            <a:endParaRPr lang="es-ES"/>
          </a:p>
        </p:txBody>
      </p:sp>
      <p:sp>
        <p:nvSpPr>
          <p:cNvPr id="6" name="Marcador de número de diapositiva 5">
            <a:extLst>
              <a:ext uri="{FF2B5EF4-FFF2-40B4-BE49-F238E27FC236}">
                <a16:creationId xmlns:a16="http://schemas.microsoft.com/office/drawing/2014/main" id="{9080DA6B-EBE0-2BF9-2C87-FBAA71132B05}"/>
              </a:ext>
            </a:extLst>
          </p:cNvPr>
          <p:cNvSpPr>
            <a:spLocks noGrp="1"/>
          </p:cNvSpPr>
          <p:nvPr>
            <p:ph type="sldNum" sz="quarter" idx="12"/>
          </p:nvPr>
        </p:nvSpPr>
        <p:spPr/>
        <p:txBody>
          <a:bodyPr/>
          <a:lstStyle/>
          <a:p>
            <a:fld id="{F7333832-9493-48E0-A08F-6F7757B1EE9C}" type="slidenum">
              <a:rPr lang="es-ES" smtClean="0"/>
              <a:t>‹Nº›</a:t>
            </a:fld>
            <a:endParaRPr lang="es-ES"/>
          </a:p>
        </p:txBody>
      </p:sp>
    </p:spTree>
    <p:extLst>
      <p:ext uri="{BB962C8B-B14F-4D97-AF65-F5344CB8AC3E}">
        <p14:creationId xmlns:p14="http://schemas.microsoft.com/office/powerpoint/2010/main" val="2543658032"/>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Título vertical y texto">
    <p:spTree>
      <p:nvGrpSpPr>
        <p:cNvPr id="1" name=""/>
        <p:cNvGrpSpPr/>
        <p:nvPr/>
      </p:nvGrpSpPr>
      <p:grpSpPr>
        <a:xfrm>
          <a:off x="0" y="0"/>
          <a:ext cx="0" cy="0"/>
          <a:chOff x="0" y="0"/>
          <a:chExt cx="0" cy="0"/>
        </a:xfrm>
      </p:grpSpPr>
      <p:sp>
        <p:nvSpPr>
          <p:cNvPr id="2" name="Título vertical 1">
            <a:extLst>
              <a:ext uri="{FF2B5EF4-FFF2-40B4-BE49-F238E27FC236}">
                <a16:creationId xmlns:a16="http://schemas.microsoft.com/office/drawing/2014/main" id="{1E0A34DD-FB2D-844A-9C3A-1ABB2342ADA2}"/>
              </a:ext>
            </a:extLst>
          </p:cNvPr>
          <p:cNvSpPr>
            <a:spLocks noGrp="1"/>
          </p:cNvSpPr>
          <p:nvPr>
            <p:ph type="title" orient="vert"/>
          </p:nvPr>
        </p:nvSpPr>
        <p:spPr>
          <a:xfrm>
            <a:off x="8724900" y="365125"/>
            <a:ext cx="2628900" cy="5811838"/>
          </a:xfrm>
        </p:spPr>
        <p:txBody>
          <a:bodyPr vert="eaVert"/>
          <a:lstStyle/>
          <a:p>
            <a:r>
              <a:rPr lang="es-ES"/>
              <a:t>Haga clic para modificar el estilo de título del patrón</a:t>
            </a:r>
          </a:p>
        </p:txBody>
      </p:sp>
      <p:sp>
        <p:nvSpPr>
          <p:cNvPr id="3" name="Marcador de texto vertical 2">
            <a:extLst>
              <a:ext uri="{FF2B5EF4-FFF2-40B4-BE49-F238E27FC236}">
                <a16:creationId xmlns:a16="http://schemas.microsoft.com/office/drawing/2014/main" id="{DADDD4F7-E619-5828-EE4C-3D08F72D3B34}"/>
              </a:ext>
            </a:extLst>
          </p:cNvPr>
          <p:cNvSpPr>
            <a:spLocks noGrp="1"/>
          </p:cNvSpPr>
          <p:nvPr>
            <p:ph type="body" orient="vert" idx="1"/>
          </p:nvPr>
        </p:nvSpPr>
        <p:spPr>
          <a:xfrm>
            <a:off x="838200" y="365125"/>
            <a:ext cx="7734300" cy="5811838"/>
          </a:xfrm>
        </p:spPr>
        <p:txBody>
          <a:bodyPr vert="eaVert"/>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p>
        </p:txBody>
      </p:sp>
      <p:sp>
        <p:nvSpPr>
          <p:cNvPr id="4" name="Marcador de fecha 3">
            <a:extLst>
              <a:ext uri="{FF2B5EF4-FFF2-40B4-BE49-F238E27FC236}">
                <a16:creationId xmlns:a16="http://schemas.microsoft.com/office/drawing/2014/main" id="{ACCDD61D-6740-32F5-E7D1-7387BEEBBD10}"/>
              </a:ext>
            </a:extLst>
          </p:cNvPr>
          <p:cNvSpPr>
            <a:spLocks noGrp="1"/>
          </p:cNvSpPr>
          <p:nvPr>
            <p:ph type="dt" sz="half" idx="10"/>
          </p:nvPr>
        </p:nvSpPr>
        <p:spPr/>
        <p:txBody>
          <a:bodyPr/>
          <a:lstStyle/>
          <a:p>
            <a:fld id="{C04603D3-6E9E-49FA-90FA-6A64D45EEC35}" type="datetimeFigureOut">
              <a:rPr lang="es-ES" smtClean="0"/>
              <a:t>07/10/2025</a:t>
            </a:fld>
            <a:endParaRPr lang="es-ES"/>
          </a:p>
        </p:txBody>
      </p:sp>
      <p:sp>
        <p:nvSpPr>
          <p:cNvPr id="5" name="Marcador de pie de página 4">
            <a:extLst>
              <a:ext uri="{FF2B5EF4-FFF2-40B4-BE49-F238E27FC236}">
                <a16:creationId xmlns:a16="http://schemas.microsoft.com/office/drawing/2014/main" id="{89350D90-605F-E810-F956-0CC2D32FC0E6}"/>
              </a:ext>
            </a:extLst>
          </p:cNvPr>
          <p:cNvSpPr>
            <a:spLocks noGrp="1"/>
          </p:cNvSpPr>
          <p:nvPr>
            <p:ph type="ftr" sz="quarter" idx="11"/>
          </p:nvPr>
        </p:nvSpPr>
        <p:spPr/>
        <p:txBody>
          <a:bodyPr/>
          <a:lstStyle/>
          <a:p>
            <a:endParaRPr lang="es-ES"/>
          </a:p>
        </p:txBody>
      </p:sp>
      <p:sp>
        <p:nvSpPr>
          <p:cNvPr id="6" name="Marcador de número de diapositiva 5">
            <a:extLst>
              <a:ext uri="{FF2B5EF4-FFF2-40B4-BE49-F238E27FC236}">
                <a16:creationId xmlns:a16="http://schemas.microsoft.com/office/drawing/2014/main" id="{013602D5-C3FA-BDDF-22FD-180E7D585021}"/>
              </a:ext>
            </a:extLst>
          </p:cNvPr>
          <p:cNvSpPr>
            <a:spLocks noGrp="1"/>
          </p:cNvSpPr>
          <p:nvPr>
            <p:ph type="sldNum" sz="quarter" idx="12"/>
          </p:nvPr>
        </p:nvSpPr>
        <p:spPr/>
        <p:txBody>
          <a:bodyPr/>
          <a:lstStyle/>
          <a:p>
            <a:fld id="{F7333832-9493-48E0-A08F-6F7757B1EE9C}" type="slidenum">
              <a:rPr lang="es-ES" smtClean="0"/>
              <a:t>‹Nº›</a:t>
            </a:fld>
            <a:endParaRPr lang="es-ES"/>
          </a:p>
        </p:txBody>
      </p:sp>
    </p:spTree>
    <p:extLst>
      <p:ext uri="{BB962C8B-B14F-4D97-AF65-F5344CB8AC3E}">
        <p14:creationId xmlns:p14="http://schemas.microsoft.com/office/powerpoint/2010/main" val="2724464784"/>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bwMode="white">
          <a:ln>
            <a:headEnd type="none"/>
            <a:tailEnd type="none"/>
          </a:ln>
        </p:spPr>
        <p:txBody>
          <a:bodyPr wrap="square"/>
          <a:lstStyle/>
          <a:p>
            <a:fld id="{D4630D1D-EC81-4D12-BBAE-7AD5C46FE905}" type="datetimeFigureOut">
              <a:rPr lang="en-US" dirty="0"/>
              <a:t>10/7/2025</a:t>
            </a:fld>
            <a:endParaRPr lang="en-US" dirty="0"/>
          </a:p>
        </p:txBody>
      </p:sp>
      <p:sp>
        <p:nvSpPr>
          <p:cNvPr id="3" name="Footer Placeholder 2"/>
          <p:cNvSpPr>
            <a:spLocks noGrp="1"/>
          </p:cNvSpPr>
          <p:nvPr>
            <p:ph type="ftr" sz="quarter" idx="11"/>
          </p:nvPr>
        </p:nvSpPr>
        <p:spPr bwMode="white">
          <a:ln>
            <a:headEnd type="none"/>
            <a:tailEnd type="none"/>
          </a:ln>
        </p:spPr>
        <p:txBody>
          <a:bodyPr wrap="square"/>
          <a:lstStyle/>
          <a:p>
            <a:endParaRPr lang="en-US" dirty="0"/>
          </a:p>
        </p:txBody>
      </p:sp>
      <p:sp>
        <p:nvSpPr>
          <p:cNvPr id="4" name="Slide Number Placeholder 3"/>
          <p:cNvSpPr>
            <a:spLocks noGrp="1"/>
          </p:cNvSpPr>
          <p:nvPr>
            <p:ph type="sldNum" sz="quarter" idx="12"/>
          </p:nvPr>
        </p:nvSpPr>
        <p:spPr bwMode="white">
          <a:ln>
            <a:headEnd type="none"/>
            <a:tailEnd type="none"/>
          </a:ln>
        </p:spPr>
        <p:txBody>
          <a:bodyPr wrap="square"/>
          <a:lstStyle/>
          <a:p>
            <a:fld id="{E1CC4C9C-B29E-4E68-9F89-CA7A1621DE94}" type="slidenum">
              <a:rPr lang="en-US" dirty="0"/>
              <a:t>‹Nº›</a:t>
            </a:fld>
            <a:endParaRPr lang="en-US" dirty="0"/>
          </a:p>
        </p:txBody>
      </p:sp>
    </p:spTree>
    <p:extLst>
      <p:ext uri="{BB962C8B-B14F-4D97-AF65-F5344CB8AC3E}">
        <p14:creationId xmlns:p14="http://schemas.microsoft.com/office/powerpoint/2010/main" val="2722433986"/>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image" Target="../media/image2.png"/><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image" Target="../media/image1.png"/></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Marcador de título 1">
            <a:extLst>
              <a:ext uri="{FF2B5EF4-FFF2-40B4-BE49-F238E27FC236}">
                <a16:creationId xmlns:a16="http://schemas.microsoft.com/office/drawing/2014/main" id="{E1CEE786-8EA8-1DC8-E099-EBD8700AF386}"/>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s-ES"/>
              <a:t>Haga clic para modificar el estilo de título del patrón</a:t>
            </a:r>
          </a:p>
        </p:txBody>
      </p:sp>
      <p:sp>
        <p:nvSpPr>
          <p:cNvPr id="3" name="Marcador de texto 2">
            <a:extLst>
              <a:ext uri="{FF2B5EF4-FFF2-40B4-BE49-F238E27FC236}">
                <a16:creationId xmlns:a16="http://schemas.microsoft.com/office/drawing/2014/main" id="{E58B562A-9185-7B4F-673B-B8DE5A01E8EB}"/>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p>
        </p:txBody>
      </p:sp>
      <p:sp>
        <p:nvSpPr>
          <p:cNvPr id="4" name="Marcador de fecha 3">
            <a:extLst>
              <a:ext uri="{FF2B5EF4-FFF2-40B4-BE49-F238E27FC236}">
                <a16:creationId xmlns:a16="http://schemas.microsoft.com/office/drawing/2014/main" id="{6F0DD2FD-6124-0E16-477D-0D0555A53D83}"/>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C04603D3-6E9E-49FA-90FA-6A64D45EEC35}" type="datetimeFigureOut">
              <a:rPr lang="es-ES" smtClean="0"/>
              <a:t>07/10/2025</a:t>
            </a:fld>
            <a:endParaRPr lang="es-ES"/>
          </a:p>
        </p:txBody>
      </p:sp>
      <p:sp>
        <p:nvSpPr>
          <p:cNvPr id="5" name="Marcador de pie de página 4">
            <a:extLst>
              <a:ext uri="{FF2B5EF4-FFF2-40B4-BE49-F238E27FC236}">
                <a16:creationId xmlns:a16="http://schemas.microsoft.com/office/drawing/2014/main" id="{4FC21D1B-2BEA-71F7-11C0-7C57D4221797}"/>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s-ES"/>
          </a:p>
        </p:txBody>
      </p:sp>
      <p:sp>
        <p:nvSpPr>
          <p:cNvPr id="6" name="Marcador de número de diapositiva 5">
            <a:extLst>
              <a:ext uri="{FF2B5EF4-FFF2-40B4-BE49-F238E27FC236}">
                <a16:creationId xmlns:a16="http://schemas.microsoft.com/office/drawing/2014/main" id="{62212C29-BD37-2864-E7E1-EA85DAC3218D}"/>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F7333832-9493-48E0-A08F-6F7757B1EE9C}" type="slidenum">
              <a:rPr lang="es-ES" smtClean="0"/>
              <a:t>‹Nº›</a:t>
            </a:fld>
            <a:endParaRPr lang="es-ES"/>
          </a:p>
        </p:txBody>
      </p:sp>
      <p:pic>
        <p:nvPicPr>
          <p:cNvPr id="8" name="Imagen 7">
            <a:extLst>
              <a:ext uri="{FF2B5EF4-FFF2-40B4-BE49-F238E27FC236}">
                <a16:creationId xmlns:a16="http://schemas.microsoft.com/office/drawing/2014/main" id="{B89F6E06-9A50-500C-5FAF-0F3C68AE8DEF}"/>
              </a:ext>
            </a:extLst>
          </p:cNvPr>
          <p:cNvPicPr>
            <a:picLocks noChangeAspect="1"/>
          </p:cNvPicPr>
          <p:nvPr userDrawn="1"/>
        </p:nvPicPr>
        <p:blipFill>
          <a:blip r:embed="rId14">
            <a:extLst>
              <a:ext uri="{28A0092B-C50C-407E-A947-70E740481C1C}">
                <a14:useLocalDpi xmlns:a14="http://schemas.microsoft.com/office/drawing/2010/main" val="0"/>
              </a:ext>
            </a:extLst>
          </a:blip>
          <a:stretch>
            <a:fillRect/>
          </a:stretch>
        </p:blipFill>
        <p:spPr>
          <a:xfrm>
            <a:off x="0" y="428"/>
            <a:ext cx="12192000" cy="6857143"/>
          </a:xfrm>
          <a:prstGeom prst="rect">
            <a:avLst/>
          </a:prstGeom>
        </p:spPr>
      </p:pic>
      <p:sp>
        <p:nvSpPr>
          <p:cNvPr id="9" name="Rectángulo 8">
            <a:extLst>
              <a:ext uri="{FF2B5EF4-FFF2-40B4-BE49-F238E27FC236}">
                <a16:creationId xmlns:a16="http://schemas.microsoft.com/office/drawing/2014/main" id="{32BE5360-6CE0-A98D-434C-178E1AE4B928}"/>
              </a:ext>
            </a:extLst>
          </p:cNvPr>
          <p:cNvSpPr/>
          <p:nvPr userDrawn="1"/>
        </p:nvSpPr>
        <p:spPr>
          <a:xfrm>
            <a:off x="64655" y="0"/>
            <a:ext cx="12127345" cy="498764"/>
          </a:xfrm>
          <a:prstGeom prst="rect">
            <a:avLst/>
          </a:prstGeom>
          <a:gradFill>
            <a:gsLst>
              <a:gs pos="15000">
                <a:schemeClr val="tx1"/>
              </a:gs>
              <a:gs pos="56000">
                <a:srgbClr val="002060"/>
              </a:gs>
            </a:gsLst>
            <a:lin ang="2700000" scaled="1"/>
          </a:gradFill>
        </p:spPr>
        <p:style>
          <a:lnRef idx="2">
            <a:schemeClr val="dk1">
              <a:shade val="15000"/>
            </a:schemeClr>
          </a:lnRef>
          <a:fillRef idx="1">
            <a:schemeClr val="dk1"/>
          </a:fillRef>
          <a:effectRef idx="0">
            <a:schemeClr val="dk1"/>
          </a:effectRef>
          <a:fontRef idx="minor">
            <a:schemeClr val="lt1"/>
          </a:fontRef>
        </p:style>
        <p:txBody>
          <a:bodyPr rtlCol="0" anchor="ctr"/>
          <a:lstStyle/>
          <a:p>
            <a:pPr algn="ctr"/>
            <a:endParaRPr lang="es-ES"/>
          </a:p>
        </p:txBody>
      </p:sp>
      <p:sp>
        <p:nvSpPr>
          <p:cNvPr id="10" name="Rectángulo 9">
            <a:extLst>
              <a:ext uri="{FF2B5EF4-FFF2-40B4-BE49-F238E27FC236}">
                <a16:creationId xmlns:a16="http://schemas.microsoft.com/office/drawing/2014/main" id="{7766E656-1921-6D95-C861-98E6DC5B3E37}"/>
              </a:ext>
            </a:extLst>
          </p:cNvPr>
          <p:cNvSpPr/>
          <p:nvPr userDrawn="1"/>
        </p:nvSpPr>
        <p:spPr>
          <a:xfrm>
            <a:off x="0" y="6600825"/>
            <a:ext cx="6096000" cy="256746"/>
          </a:xfrm>
          <a:prstGeom prst="rect">
            <a:avLst/>
          </a:prstGeom>
          <a:solidFill>
            <a:schemeClr val="tx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ES"/>
          </a:p>
        </p:txBody>
      </p:sp>
      <p:sp>
        <p:nvSpPr>
          <p:cNvPr id="11" name="Rectángulo 10">
            <a:extLst>
              <a:ext uri="{FF2B5EF4-FFF2-40B4-BE49-F238E27FC236}">
                <a16:creationId xmlns:a16="http://schemas.microsoft.com/office/drawing/2014/main" id="{04848ED0-544F-B3AD-0E66-57BA38302D5B}"/>
              </a:ext>
            </a:extLst>
          </p:cNvPr>
          <p:cNvSpPr/>
          <p:nvPr userDrawn="1"/>
        </p:nvSpPr>
        <p:spPr>
          <a:xfrm>
            <a:off x="6095999" y="6600825"/>
            <a:ext cx="6095999" cy="257175"/>
          </a:xfrm>
          <a:prstGeom prst="rect">
            <a:avLst/>
          </a:prstGeom>
          <a:solidFill>
            <a:srgbClr val="0070C0"/>
          </a:solidFill>
        </p:spPr>
        <p:style>
          <a:lnRef idx="2">
            <a:schemeClr val="dk1">
              <a:shade val="15000"/>
            </a:schemeClr>
          </a:lnRef>
          <a:fillRef idx="1">
            <a:schemeClr val="dk1"/>
          </a:fillRef>
          <a:effectRef idx="0">
            <a:schemeClr val="dk1"/>
          </a:effectRef>
          <a:fontRef idx="minor">
            <a:schemeClr val="lt1"/>
          </a:fontRef>
        </p:style>
        <p:txBody>
          <a:bodyPr rtlCol="0" anchor="ctr"/>
          <a:lstStyle/>
          <a:p>
            <a:pPr algn="ctr"/>
            <a:endParaRPr lang="es-ES"/>
          </a:p>
        </p:txBody>
      </p:sp>
      <p:sp>
        <p:nvSpPr>
          <p:cNvPr id="12" name="Título 1">
            <a:extLst>
              <a:ext uri="{FF2B5EF4-FFF2-40B4-BE49-F238E27FC236}">
                <a16:creationId xmlns:a16="http://schemas.microsoft.com/office/drawing/2014/main" id="{0745E03F-CD18-1272-51DF-4565035E87F3}"/>
              </a:ext>
            </a:extLst>
          </p:cNvPr>
          <p:cNvSpPr txBox="1">
            <a:spLocks/>
          </p:cNvSpPr>
          <p:nvPr userDrawn="1"/>
        </p:nvSpPr>
        <p:spPr>
          <a:xfrm>
            <a:off x="1198712" y="810038"/>
            <a:ext cx="11679936" cy="925893"/>
          </a:xfrm>
          <a:prstGeom prst="rect">
            <a:avLst/>
          </a:prstGeom>
        </p:spPr>
        <p:txBody>
          <a:bodyP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s-ES" sz="3200" b="1" u="sng">
                <a:latin typeface="Arial" panose="020B0604020202020204" pitchFamily="34" charset="0"/>
                <a:cs typeface="Arial" panose="020B0604020202020204" pitchFamily="34" charset="0"/>
              </a:rPr>
              <a:t>Curso Metodología de la Investigación </a:t>
            </a:r>
            <a:endParaRPr lang="es-ES" sz="3200" b="1" u="sng" dirty="0">
              <a:latin typeface="Arial" panose="020B0604020202020204" pitchFamily="34" charset="0"/>
              <a:cs typeface="Arial" panose="020B0604020202020204" pitchFamily="34" charset="0"/>
            </a:endParaRPr>
          </a:p>
        </p:txBody>
      </p:sp>
      <p:grpSp>
        <p:nvGrpSpPr>
          <p:cNvPr id="13" name="Grupo 12">
            <a:extLst>
              <a:ext uri="{FF2B5EF4-FFF2-40B4-BE49-F238E27FC236}">
                <a16:creationId xmlns:a16="http://schemas.microsoft.com/office/drawing/2014/main" id="{8C7BA859-7764-73E7-859D-CA6604B7569F}"/>
              </a:ext>
            </a:extLst>
          </p:cNvPr>
          <p:cNvGrpSpPr/>
          <p:nvPr userDrawn="1"/>
        </p:nvGrpSpPr>
        <p:grpSpPr>
          <a:xfrm>
            <a:off x="10134828" y="810038"/>
            <a:ext cx="1435510" cy="1505115"/>
            <a:chOff x="9842243" y="1929343"/>
            <a:chExt cx="2143125" cy="2143125"/>
          </a:xfrm>
        </p:grpSpPr>
        <p:pic>
          <p:nvPicPr>
            <p:cNvPr id="14" name="Picture 3" descr="Metodología de la Investigación - Tesis">
              <a:extLst>
                <a:ext uri="{FF2B5EF4-FFF2-40B4-BE49-F238E27FC236}">
                  <a16:creationId xmlns:a16="http://schemas.microsoft.com/office/drawing/2014/main" id="{F9BD7AAD-1065-9557-5A25-979D4E765503}"/>
                </a:ext>
              </a:extLst>
            </p:cNvPr>
            <p:cNvPicPr>
              <a:picLocks noChangeAspect="1" noChangeArrowheads="1"/>
            </p:cNvPicPr>
            <p:nvPr/>
          </p:nvPicPr>
          <p:blipFill>
            <a:blip r:embed="rId15">
              <a:extLst>
                <a:ext uri="{28A0092B-C50C-407E-A947-70E740481C1C}">
                  <a14:useLocalDpi xmlns:a14="http://schemas.microsoft.com/office/drawing/2010/main" val="0"/>
                </a:ext>
              </a:extLst>
            </a:blip>
            <a:srcRect/>
            <a:stretch>
              <a:fillRect/>
            </a:stretch>
          </p:blipFill>
          <p:spPr bwMode="auto">
            <a:xfrm>
              <a:off x="9842243" y="1929343"/>
              <a:ext cx="2143125" cy="2143125"/>
            </a:xfrm>
            <a:prstGeom prst="rect">
              <a:avLst/>
            </a:prstGeom>
            <a:noFill/>
            <a:extLst>
              <a:ext uri="{909E8E84-426E-40DD-AFC4-6F175D3DCCD1}">
                <a14:hiddenFill xmlns:a14="http://schemas.microsoft.com/office/drawing/2010/main">
                  <a:solidFill>
                    <a:srgbClr val="FFFFFF"/>
                  </a:solidFill>
                </a14:hiddenFill>
              </a:ext>
            </a:extLst>
          </p:spPr>
        </p:pic>
        <p:sp>
          <p:nvSpPr>
            <p:cNvPr id="15" name="Rectángulo 14">
              <a:extLst>
                <a:ext uri="{FF2B5EF4-FFF2-40B4-BE49-F238E27FC236}">
                  <a16:creationId xmlns:a16="http://schemas.microsoft.com/office/drawing/2014/main" id="{91295761-3D98-6586-0F29-EDB8E5F94BE4}"/>
                </a:ext>
              </a:extLst>
            </p:cNvPr>
            <p:cNvSpPr/>
            <p:nvPr/>
          </p:nvSpPr>
          <p:spPr>
            <a:xfrm>
              <a:off x="10658168" y="3510116"/>
              <a:ext cx="511277" cy="226142"/>
            </a:xfrm>
            <a:prstGeom prst="rect">
              <a:avLst/>
            </a:prstGeom>
            <a:solidFill>
              <a:schemeClr val="bg1"/>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ES"/>
            </a:p>
          </p:txBody>
        </p:sp>
      </p:grpSp>
    </p:spTree>
    <p:extLst>
      <p:ext uri="{BB962C8B-B14F-4D97-AF65-F5344CB8AC3E}">
        <p14:creationId xmlns:p14="http://schemas.microsoft.com/office/powerpoint/2010/main" val="395370051"/>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 id="2147483672" r:id="rId12"/>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s-E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3" Type="http://schemas.openxmlformats.org/officeDocument/2006/relationships/image" Target="../media/image3.jpeg"/><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3" Type="http://schemas.openxmlformats.org/officeDocument/2006/relationships/image" Target="../media/image6.jpeg"/><Relationship Id="rId2" Type="http://schemas.openxmlformats.org/officeDocument/2006/relationships/image" Target="../media/image2.png"/><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ubtítulo 2">
            <a:extLst>
              <a:ext uri="{FF2B5EF4-FFF2-40B4-BE49-F238E27FC236}">
                <a16:creationId xmlns:a16="http://schemas.microsoft.com/office/drawing/2014/main" id="{23A60A85-83D3-2532-A960-13E77908F856}"/>
              </a:ext>
            </a:extLst>
          </p:cNvPr>
          <p:cNvSpPr>
            <a:spLocks noGrp="1"/>
          </p:cNvSpPr>
          <p:nvPr>
            <p:ph type="subTitle" idx="1"/>
          </p:nvPr>
        </p:nvSpPr>
        <p:spPr>
          <a:xfrm>
            <a:off x="475488" y="1740309"/>
            <a:ext cx="10330164" cy="4404851"/>
          </a:xfrm>
        </p:spPr>
        <p:txBody>
          <a:bodyPr>
            <a:normAutofit/>
          </a:bodyPr>
          <a:lstStyle/>
          <a:p>
            <a:r>
              <a:rPr lang="es-ES" sz="2700" b="1" dirty="0">
                <a:latin typeface="Arial" panose="020B0604020202020204" pitchFamily="34" charset="0"/>
                <a:cs typeface="Arial" panose="020B0604020202020204" pitchFamily="34" charset="0"/>
              </a:rPr>
              <a:t>Título del curso:</a:t>
            </a:r>
            <a:r>
              <a:rPr lang="es-ES" sz="2700" dirty="0">
                <a:latin typeface="Arial" panose="020B0604020202020204" pitchFamily="34" charset="0"/>
                <a:cs typeface="Arial" panose="020B0604020202020204" pitchFamily="34" charset="0"/>
              </a:rPr>
              <a:t> Metodología de la Investigación Científica </a:t>
            </a:r>
          </a:p>
          <a:p>
            <a:r>
              <a:rPr lang="es-ES" sz="2700" b="1" dirty="0">
                <a:latin typeface="Arial" panose="020B0604020202020204" pitchFamily="34" charset="0"/>
                <a:cs typeface="Arial" panose="020B0604020202020204" pitchFamily="34" charset="0"/>
              </a:rPr>
              <a:t>Nivel:</a:t>
            </a:r>
            <a:r>
              <a:rPr lang="es-ES" sz="2700" dirty="0">
                <a:latin typeface="Arial" panose="020B0604020202020204" pitchFamily="34" charset="0"/>
                <a:cs typeface="Arial" panose="020B0604020202020204" pitchFamily="34" charset="0"/>
              </a:rPr>
              <a:t> ( Postgrado Residentes)</a:t>
            </a:r>
          </a:p>
          <a:p>
            <a:endParaRPr lang="es-ES" sz="2700" dirty="0">
              <a:latin typeface="Arial" panose="020B0604020202020204" pitchFamily="34" charset="0"/>
              <a:cs typeface="Arial" panose="020B0604020202020204" pitchFamily="34" charset="0"/>
            </a:endParaRPr>
          </a:p>
          <a:p>
            <a:r>
              <a:rPr lang="es-ES" sz="2700" b="1" dirty="0">
                <a:latin typeface="Arial" panose="020B0604020202020204" pitchFamily="34" charset="0"/>
                <a:cs typeface="Arial" panose="020B0604020202020204" pitchFamily="34" charset="0"/>
              </a:rPr>
              <a:t>Las Hipótesis y el problema de la investigación </a:t>
            </a:r>
          </a:p>
          <a:p>
            <a:endParaRPr lang="es-ES" sz="2700" dirty="0">
              <a:latin typeface="Arial" panose="020B0604020202020204" pitchFamily="34" charset="0"/>
              <a:cs typeface="Arial" panose="020B0604020202020204" pitchFamily="34" charset="0"/>
            </a:endParaRPr>
          </a:p>
          <a:p>
            <a:r>
              <a:rPr lang="es-ES" dirty="0">
                <a:latin typeface="Arial" panose="020B0604020202020204" pitchFamily="34" charset="0"/>
                <a:cs typeface="Arial" panose="020B0604020202020204" pitchFamily="34" charset="0"/>
              </a:rPr>
              <a:t>Dr. C René Borges Sandrino </a:t>
            </a:r>
          </a:p>
          <a:p>
            <a:pPr algn="r"/>
            <a:endParaRPr lang="es-ES" sz="2700" b="1" dirty="0">
              <a:latin typeface="Arial" panose="020B0604020202020204" pitchFamily="34" charset="0"/>
              <a:cs typeface="Arial" panose="020B0604020202020204" pitchFamily="34" charset="0"/>
            </a:endParaRPr>
          </a:p>
          <a:p>
            <a:r>
              <a:rPr lang="es-ES" sz="2700" b="1" dirty="0">
                <a:latin typeface="Arial" panose="020B0604020202020204" pitchFamily="34" charset="0"/>
                <a:cs typeface="Arial" panose="020B0604020202020204" pitchFamily="34" charset="0"/>
              </a:rPr>
              <a:t>Plataforma virtual </a:t>
            </a:r>
          </a:p>
          <a:p>
            <a:endParaRPr lang="es-ES" dirty="0"/>
          </a:p>
        </p:txBody>
      </p:sp>
      <p:pic>
        <p:nvPicPr>
          <p:cNvPr id="2050" name="Picture 2" descr="conceptos metodologia de la investigación | Flashcards">
            <a:extLst>
              <a:ext uri="{FF2B5EF4-FFF2-40B4-BE49-F238E27FC236}">
                <a16:creationId xmlns:a16="http://schemas.microsoft.com/office/drawing/2014/main" id="{1636E8C4-77FF-9397-100B-2677AFC8A69F}"/>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8295069" y="3668813"/>
            <a:ext cx="3640899" cy="2476347"/>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4257424813"/>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1">
            <a:extLst>
              <a:ext uri="{FF2B5EF4-FFF2-40B4-BE49-F238E27FC236}">
                <a16:creationId xmlns:a16="http://schemas.microsoft.com/office/drawing/2014/main" id="{231E14C2-8DC3-159D-0158-B92D7DEF1685}"/>
              </a:ext>
            </a:extLst>
          </p:cNvPr>
          <p:cNvSpPr>
            <a:spLocks noGrp="1" noChangeArrowheads="1"/>
          </p:cNvSpPr>
          <p:nvPr>
            <p:ph idx="1"/>
          </p:nvPr>
        </p:nvSpPr>
        <p:spPr bwMode="auto">
          <a:xfrm>
            <a:off x="562896" y="1929343"/>
            <a:ext cx="9721646" cy="341632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s-ES" altLang="es-ES" sz="2400" b="0" i="0" u="none" strike="noStrike" cap="none" normalizeH="0" baseline="0" dirty="0">
                <a:ln>
                  <a:noFill/>
                </a:ln>
                <a:solidFill>
                  <a:schemeClr val="tx1"/>
                </a:solidFill>
                <a:effectLst/>
                <a:latin typeface="Arial" panose="020B0604020202020204" pitchFamily="34" charset="0"/>
                <a:cs typeface="Arial" panose="020B0604020202020204" pitchFamily="34" charset="0"/>
              </a:rPr>
              <a:t>Un problema científico es una interrogante o pregunta que refleja una contradicción  entre la situación actual de un objeto o fenómeno y la situación deseable.</a:t>
            </a:r>
          </a:p>
          <a:p>
            <a:pPr marL="0" marR="0" lvl="0" indent="0" algn="l" defTabSz="914400" rtl="0" eaLnBrk="0" fontAlgn="base" latinLnBrk="0" hangingPunct="0">
              <a:lnSpc>
                <a:spcPct val="100000"/>
              </a:lnSpc>
              <a:spcBef>
                <a:spcPct val="0"/>
              </a:spcBef>
              <a:spcAft>
                <a:spcPct val="0"/>
              </a:spcAft>
              <a:buClrTx/>
              <a:buSzTx/>
              <a:buFontTx/>
              <a:buNone/>
              <a:tabLst/>
            </a:pPr>
            <a:endParaRPr kumimoji="0" lang="es-ES" altLang="es-ES" sz="2400" b="0" i="0" u="none" strike="noStrike" cap="none" normalizeH="0" baseline="0" dirty="0">
              <a:ln>
                <a:noFill/>
              </a:ln>
              <a:solidFill>
                <a:schemeClr val="tx1"/>
              </a:solidFill>
              <a:effectLst/>
              <a:latin typeface="Arial" panose="020B0604020202020204" pitchFamily="34" charset="0"/>
              <a:cs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es-ES" altLang="es-ES" sz="2400" b="0" i="0" u="none" strike="noStrike" cap="none" normalizeH="0" baseline="0" dirty="0">
                <a:ln>
                  <a:noFill/>
                </a:ln>
                <a:solidFill>
                  <a:schemeClr val="tx1"/>
                </a:solidFill>
                <a:effectLst/>
                <a:latin typeface="Arial" panose="020B0604020202020204" pitchFamily="34" charset="0"/>
                <a:cs typeface="Arial" panose="020B0604020202020204" pitchFamily="34" charset="0"/>
              </a:rPr>
              <a:t>Es una discrepancia entre lo conocido y lo desconocido o entre lo insatisfactorio  y lo satisfactorio. </a:t>
            </a:r>
          </a:p>
          <a:p>
            <a:pPr marL="0" marR="0" lvl="0" indent="0" algn="l" defTabSz="914400" rtl="0" eaLnBrk="0" fontAlgn="base" latinLnBrk="0" hangingPunct="0">
              <a:lnSpc>
                <a:spcPct val="100000"/>
              </a:lnSpc>
              <a:spcBef>
                <a:spcPct val="0"/>
              </a:spcBef>
              <a:spcAft>
                <a:spcPct val="0"/>
              </a:spcAft>
              <a:buClrTx/>
              <a:buSzTx/>
              <a:buFontTx/>
              <a:buNone/>
              <a:tabLst/>
            </a:pPr>
            <a:endParaRPr lang="es-ES" altLang="es-ES" sz="2400" dirty="0">
              <a:latin typeface="Arial" panose="020B0604020202020204" pitchFamily="34" charset="0"/>
              <a:cs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es-ES" altLang="es-ES" sz="2400" b="0" i="0" u="none" strike="noStrike" cap="none" normalizeH="0" baseline="0" dirty="0">
                <a:ln>
                  <a:noFill/>
                </a:ln>
                <a:solidFill>
                  <a:schemeClr val="tx1"/>
                </a:solidFill>
                <a:effectLst/>
                <a:latin typeface="Arial" panose="020B0604020202020204" pitchFamily="34" charset="0"/>
                <a:cs typeface="Arial" panose="020B0604020202020204" pitchFamily="34" charset="0"/>
              </a:rPr>
              <a:t>Surge a partir de las limitaciones del conocimiento científico existente y  está motivado por necesidades de la práctica o la sociedad. </a:t>
            </a:r>
          </a:p>
        </p:txBody>
      </p:sp>
    </p:spTree>
    <p:extLst>
      <p:ext uri="{BB962C8B-B14F-4D97-AF65-F5344CB8AC3E}">
        <p14:creationId xmlns:p14="http://schemas.microsoft.com/office/powerpoint/2010/main" val="1741062649"/>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9A09F2AE-C581-BB83-EEB7-0A02D04629AE}"/>
              </a:ext>
            </a:extLst>
          </p:cNvPr>
          <p:cNvSpPr>
            <a:spLocks noGrp="1"/>
          </p:cNvSpPr>
          <p:nvPr>
            <p:ph type="title"/>
          </p:nvPr>
        </p:nvSpPr>
        <p:spPr>
          <a:xfrm>
            <a:off x="483821" y="1536014"/>
            <a:ext cx="9783097" cy="812822"/>
          </a:xfrm>
        </p:spPr>
        <p:txBody>
          <a:bodyPr>
            <a:normAutofit/>
          </a:bodyPr>
          <a:lstStyle/>
          <a:p>
            <a:pPr algn="ctr"/>
            <a:r>
              <a:rPr lang="es-ES" sz="2800" b="1" u="sng" dirty="0">
                <a:solidFill>
                  <a:schemeClr val="accent1">
                    <a:lumMod val="50000"/>
                  </a:schemeClr>
                </a:solidFill>
                <a:latin typeface="Arial" panose="020B0604020202020204" pitchFamily="34" charset="0"/>
                <a:cs typeface="Arial" panose="020B0604020202020204" pitchFamily="34" charset="0"/>
              </a:rPr>
              <a:t>Requisitos necesarios para la enunciación del problema</a:t>
            </a:r>
            <a:endParaRPr lang="es-ES" sz="2800" b="1" u="sng" dirty="0">
              <a:solidFill>
                <a:schemeClr val="accent1">
                  <a:lumMod val="50000"/>
                </a:schemeClr>
              </a:solidFill>
            </a:endParaRPr>
          </a:p>
        </p:txBody>
      </p:sp>
      <p:sp>
        <p:nvSpPr>
          <p:cNvPr id="3" name="Marcador de contenido 2">
            <a:extLst>
              <a:ext uri="{FF2B5EF4-FFF2-40B4-BE49-F238E27FC236}">
                <a16:creationId xmlns:a16="http://schemas.microsoft.com/office/drawing/2014/main" id="{C69B1A86-0E27-58BB-3B55-796A3DEB7105}"/>
              </a:ext>
            </a:extLst>
          </p:cNvPr>
          <p:cNvSpPr>
            <a:spLocks noGrp="1"/>
          </p:cNvSpPr>
          <p:nvPr>
            <p:ph idx="1"/>
          </p:nvPr>
        </p:nvSpPr>
        <p:spPr>
          <a:xfrm>
            <a:off x="491613" y="2749857"/>
            <a:ext cx="11366090" cy="3680440"/>
          </a:xfrm>
        </p:spPr>
        <p:txBody>
          <a:bodyPr>
            <a:normAutofit/>
          </a:bodyPr>
          <a:lstStyle/>
          <a:p>
            <a:pPr marL="0" indent="0">
              <a:lnSpc>
                <a:spcPct val="150000"/>
              </a:lnSpc>
              <a:spcBef>
                <a:spcPts val="0"/>
              </a:spcBef>
              <a:buNone/>
            </a:pPr>
            <a:r>
              <a:rPr lang="es-ES" dirty="0">
                <a:latin typeface="Arial" panose="020B0604020202020204" pitchFamily="34" charset="0"/>
                <a:cs typeface="Arial" panose="020B0604020202020204" pitchFamily="34" charset="0"/>
              </a:rPr>
              <a:t>1. Empirismo. El significado del término o vocablo utilizado</a:t>
            </a:r>
          </a:p>
          <a:p>
            <a:pPr marL="0" indent="0">
              <a:lnSpc>
                <a:spcPct val="150000"/>
              </a:lnSpc>
              <a:spcBef>
                <a:spcPts val="0"/>
              </a:spcBef>
              <a:buNone/>
            </a:pPr>
            <a:r>
              <a:rPr lang="es-ES" dirty="0">
                <a:latin typeface="Arial" panose="020B0604020202020204" pitchFamily="34" charset="0"/>
                <a:cs typeface="Arial" panose="020B0604020202020204" pitchFamily="34" charset="0"/>
              </a:rPr>
              <a:t>    debe ser verificable por la experiencia.</a:t>
            </a:r>
          </a:p>
          <a:p>
            <a:pPr marL="0" indent="0">
              <a:lnSpc>
                <a:spcPct val="150000"/>
              </a:lnSpc>
              <a:spcBef>
                <a:spcPts val="0"/>
              </a:spcBef>
              <a:buNone/>
            </a:pPr>
            <a:r>
              <a:rPr lang="es-ES" dirty="0">
                <a:latin typeface="Arial" panose="020B0604020202020204" pitchFamily="34" charset="0"/>
                <a:cs typeface="Arial" panose="020B0604020202020204" pitchFamily="34" charset="0"/>
              </a:rPr>
              <a:t>2. Operatividad. Es un grado superior de empirismo, o sea,</a:t>
            </a:r>
          </a:p>
          <a:p>
            <a:pPr marL="0" indent="0">
              <a:lnSpc>
                <a:spcPct val="150000"/>
              </a:lnSpc>
              <a:spcBef>
                <a:spcPts val="0"/>
              </a:spcBef>
              <a:buNone/>
            </a:pPr>
            <a:r>
              <a:rPr lang="es-ES" dirty="0">
                <a:latin typeface="Arial" panose="020B0604020202020204" pitchFamily="34" charset="0"/>
                <a:cs typeface="Arial" panose="020B0604020202020204" pitchFamily="34" charset="0"/>
              </a:rPr>
              <a:t>    la definición del término debe considerar las acciones     </a:t>
            </a:r>
          </a:p>
          <a:p>
            <a:pPr marL="0" indent="0">
              <a:lnSpc>
                <a:spcPct val="150000"/>
              </a:lnSpc>
              <a:spcBef>
                <a:spcPts val="0"/>
              </a:spcBef>
              <a:buNone/>
            </a:pPr>
            <a:r>
              <a:rPr lang="es-ES" dirty="0">
                <a:latin typeface="Arial" panose="020B0604020202020204" pitchFamily="34" charset="0"/>
                <a:cs typeface="Arial" panose="020B0604020202020204" pitchFamily="34" charset="0"/>
              </a:rPr>
              <a:t>    necesarias para observarlo o medirlo.</a:t>
            </a:r>
          </a:p>
        </p:txBody>
      </p:sp>
    </p:spTree>
    <p:extLst>
      <p:ext uri="{BB962C8B-B14F-4D97-AF65-F5344CB8AC3E}">
        <p14:creationId xmlns:p14="http://schemas.microsoft.com/office/powerpoint/2010/main" val="1641957178"/>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6DB51ED-4837-AADC-34AA-33F69B1F23D7}"/>
            </a:ext>
          </a:extLst>
        </p:cNvPr>
        <p:cNvGrpSpPr/>
        <p:nvPr/>
      </p:nvGrpSpPr>
      <p:grpSpPr>
        <a:xfrm>
          <a:off x="0" y="0"/>
          <a:ext cx="0" cy="0"/>
          <a:chOff x="0" y="0"/>
          <a:chExt cx="0" cy="0"/>
        </a:xfrm>
      </p:grpSpPr>
      <p:sp>
        <p:nvSpPr>
          <p:cNvPr id="3" name="Marcador de contenido 2">
            <a:extLst>
              <a:ext uri="{FF2B5EF4-FFF2-40B4-BE49-F238E27FC236}">
                <a16:creationId xmlns:a16="http://schemas.microsoft.com/office/drawing/2014/main" id="{173A41D1-6F1A-F0FE-A12A-C2E6A4F0E749}"/>
              </a:ext>
            </a:extLst>
          </p:cNvPr>
          <p:cNvSpPr>
            <a:spLocks noGrp="1"/>
          </p:cNvSpPr>
          <p:nvPr>
            <p:ph idx="1"/>
          </p:nvPr>
        </p:nvSpPr>
        <p:spPr>
          <a:xfrm>
            <a:off x="228599" y="2170808"/>
            <a:ext cx="11560277" cy="4020147"/>
          </a:xfrm>
        </p:spPr>
        <p:txBody>
          <a:bodyPr>
            <a:normAutofit/>
          </a:bodyPr>
          <a:lstStyle/>
          <a:p>
            <a:pPr marL="514350" indent="-514350">
              <a:lnSpc>
                <a:spcPct val="150000"/>
              </a:lnSpc>
              <a:spcBef>
                <a:spcPts val="0"/>
              </a:spcBef>
              <a:buAutoNum type="arabicPlain" startAt="3"/>
            </a:pPr>
            <a:r>
              <a:rPr lang="es-ES" dirty="0">
                <a:latin typeface="Arial" panose="020B0604020202020204" pitchFamily="34" charset="0"/>
                <a:cs typeface="Arial" panose="020B0604020202020204" pitchFamily="34" charset="0"/>
              </a:rPr>
              <a:t>Fidedigno. Cualquier investigador lo entiende de la misma forma, y no es posible confundirlo con otro fenómeno ni incluir en él fenómenos que no pertenecen a esa definición. </a:t>
            </a:r>
          </a:p>
          <a:p>
            <a:pPr marL="514350" indent="-514350">
              <a:lnSpc>
                <a:spcPct val="150000"/>
              </a:lnSpc>
              <a:spcBef>
                <a:spcPts val="0"/>
              </a:spcBef>
              <a:buAutoNum type="arabicPlain" startAt="4"/>
            </a:pPr>
            <a:r>
              <a:rPr lang="es-ES" dirty="0">
                <a:latin typeface="Arial" panose="020B0604020202020204" pitchFamily="34" charset="0"/>
                <a:cs typeface="Arial" panose="020B0604020202020204" pitchFamily="34" charset="0"/>
              </a:rPr>
              <a:t>Validez. El término utilizado en la formulación del problema debe      </a:t>
            </a:r>
          </a:p>
          <a:p>
            <a:pPr marL="0" indent="0">
              <a:lnSpc>
                <a:spcPct val="150000"/>
              </a:lnSpc>
              <a:spcBef>
                <a:spcPts val="0"/>
              </a:spcBef>
              <a:buNone/>
            </a:pPr>
            <a:r>
              <a:rPr lang="es-ES" dirty="0">
                <a:latin typeface="Arial" panose="020B0604020202020204" pitchFamily="34" charset="0"/>
                <a:cs typeface="Arial" panose="020B0604020202020204" pitchFamily="34" charset="0"/>
              </a:rPr>
              <a:t>     designar, exactamente, el fenómeno que se estudia.</a:t>
            </a:r>
          </a:p>
        </p:txBody>
      </p:sp>
    </p:spTree>
    <p:extLst>
      <p:ext uri="{BB962C8B-B14F-4D97-AF65-F5344CB8AC3E}">
        <p14:creationId xmlns:p14="http://schemas.microsoft.com/office/powerpoint/2010/main" val="2785765811"/>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3643E76-DEAA-5AA4-D492-048A7D90F567}"/>
            </a:ext>
          </a:extLst>
        </p:cNvPr>
        <p:cNvGrpSpPr/>
        <p:nvPr/>
      </p:nvGrpSpPr>
      <p:grpSpPr>
        <a:xfrm>
          <a:off x="0" y="0"/>
          <a:ext cx="0" cy="0"/>
          <a:chOff x="0" y="0"/>
          <a:chExt cx="0" cy="0"/>
        </a:xfrm>
      </p:grpSpPr>
      <p:sp>
        <p:nvSpPr>
          <p:cNvPr id="2" name="Marcador de contenido 2">
            <a:extLst>
              <a:ext uri="{FF2B5EF4-FFF2-40B4-BE49-F238E27FC236}">
                <a16:creationId xmlns:a16="http://schemas.microsoft.com/office/drawing/2014/main" id="{BB769B41-B238-72C6-5594-0A8AEB72D52A}"/>
              </a:ext>
            </a:extLst>
          </p:cNvPr>
          <p:cNvSpPr>
            <a:spLocks noGrp="1"/>
          </p:cNvSpPr>
          <p:nvPr>
            <p:ph idx="1"/>
          </p:nvPr>
        </p:nvSpPr>
        <p:spPr>
          <a:xfrm>
            <a:off x="838200" y="2340077"/>
            <a:ext cx="10515600" cy="3836886"/>
          </a:xfrm>
        </p:spPr>
        <p:txBody>
          <a:bodyPr>
            <a:normAutofit/>
          </a:bodyPr>
          <a:lstStyle/>
          <a:p>
            <a:pPr marL="514350" lvl="0" indent="-514350" eaLnBrk="0" fontAlgn="base" hangingPunct="0">
              <a:lnSpc>
                <a:spcPct val="170000"/>
              </a:lnSpc>
              <a:spcBef>
                <a:spcPct val="0"/>
              </a:spcBef>
              <a:spcAft>
                <a:spcPct val="0"/>
              </a:spcAft>
              <a:buFont typeface="+mj-lt"/>
              <a:buAutoNum type="arabicPeriod"/>
            </a:pPr>
            <a:r>
              <a:rPr lang="es-ES" altLang="es-ES" dirty="0">
                <a:latin typeface="Arial" panose="020B0604020202020204" pitchFamily="34" charset="0"/>
              </a:rPr>
              <a:t> Precisa, clara y específica.</a:t>
            </a:r>
          </a:p>
          <a:p>
            <a:pPr marL="514350" lvl="0" indent="-514350" eaLnBrk="0" fontAlgn="base" hangingPunct="0">
              <a:lnSpc>
                <a:spcPct val="170000"/>
              </a:lnSpc>
              <a:spcBef>
                <a:spcPct val="0"/>
              </a:spcBef>
              <a:spcAft>
                <a:spcPct val="0"/>
              </a:spcAft>
              <a:buFont typeface="+mj-lt"/>
              <a:buAutoNum type="arabicPeriod"/>
            </a:pPr>
            <a:r>
              <a:rPr lang="es-ES" altLang="es-ES" dirty="0">
                <a:latin typeface="Arial" panose="020B0604020202020204" pitchFamily="34" charset="0"/>
              </a:rPr>
              <a:t>Utilizar términos y conceptos científicos que designen,</a:t>
            </a:r>
          </a:p>
          <a:p>
            <a:pPr marL="0" lvl="0" indent="0" eaLnBrk="0" fontAlgn="base" hangingPunct="0">
              <a:lnSpc>
                <a:spcPct val="170000"/>
              </a:lnSpc>
              <a:spcBef>
                <a:spcPct val="0"/>
              </a:spcBef>
              <a:spcAft>
                <a:spcPct val="0"/>
              </a:spcAft>
              <a:buNone/>
            </a:pPr>
            <a:r>
              <a:rPr lang="es-ES" altLang="es-ES" dirty="0">
                <a:latin typeface="Arial" panose="020B0604020202020204" pitchFamily="34" charset="0"/>
              </a:rPr>
              <a:t>     unívocamente, a los fenómenos.</a:t>
            </a:r>
          </a:p>
          <a:p>
            <a:pPr marL="0" lvl="0" indent="0" eaLnBrk="0" fontAlgn="base" hangingPunct="0">
              <a:lnSpc>
                <a:spcPct val="170000"/>
              </a:lnSpc>
              <a:spcBef>
                <a:spcPct val="0"/>
              </a:spcBef>
              <a:spcAft>
                <a:spcPct val="0"/>
              </a:spcAft>
              <a:buNone/>
            </a:pPr>
            <a:r>
              <a:rPr lang="es-ES" altLang="es-ES" dirty="0">
                <a:latin typeface="Arial" panose="020B0604020202020204" pitchFamily="34" charset="0"/>
              </a:rPr>
              <a:t>4.  Evitar términos vagos, imprecisos, que se presten a confusión   subjetividad.</a:t>
            </a:r>
          </a:p>
          <a:p>
            <a:pPr marL="0" lvl="0" indent="0" eaLnBrk="0" fontAlgn="base" hangingPunct="0">
              <a:lnSpc>
                <a:spcPct val="170000"/>
              </a:lnSpc>
              <a:spcBef>
                <a:spcPct val="0"/>
              </a:spcBef>
              <a:spcAft>
                <a:spcPct val="0"/>
              </a:spcAft>
              <a:buNone/>
            </a:pPr>
            <a:endParaRPr lang="es-ES" altLang="es-ES" dirty="0">
              <a:latin typeface="Arial" panose="020B0604020202020204" pitchFamily="34" charset="0"/>
            </a:endParaRPr>
          </a:p>
        </p:txBody>
      </p:sp>
      <p:sp>
        <p:nvSpPr>
          <p:cNvPr id="4" name="CuadroTexto 3">
            <a:extLst>
              <a:ext uri="{FF2B5EF4-FFF2-40B4-BE49-F238E27FC236}">
                <a16:creationId xmlns:a16="http://schemas.microsoft.com/office/drawing/2014/main" id="{BAA49954-05D1-E941-BAC4-539E6409927B}"/>
              </a:ext>
            </a:extLst>
          </p:cNvPr>
          <p:cNvSpPr txBox="1"/>
          <p:nvPr/>
        </p:nvSpPr>
        <p:spPr>
          <a:xfrm>
            <a:off x="1297858" y="1679422"/>
            <a:ext cx="6430296" cy="553998"/>
          </a:xfrm>
          <a:prstGeom prst="rect">
            <a:avLst/>
          </a:prstGeom>
          <a:noFill/>
        </p:spPr>
        <p:txBody>
          <a:bodyPr wrap="square">
            <a:spAutoFit/>
          </a:bodyPr>
          <a:lstStyle/>
          <a:p>
            <a:pPr marL="0" lvl="0" indent="0" eaLnBrk="0" fontAlgn="base" hangingPunct="0">
              <a:lnSpc>
                <a:spcPct val="100000"/>
              </a:lnSpc>
              <a:spcBef>
                <a:spcPct val="0"/>
              </a:spcBef>
              <a:spcAft>
                <a:spcPct val="0"/>
              </a:spcAft>
              <a:buNone/>
            </a:pPr>
            <a:r>
              <a:rPr lang="es-ES" altLang="es-ES" sz="3000" dirty="0">
                <a:latin typeface="Arial" panose="020B0604020202020204" pitchFamily="34" charset="0"/>
              </a:rPr>
              <a:t>Su formulación debe ser</a:t>
            </a:r>
          </a:p>
        </p:txBody>
      </p:sp>
    </p:spTree>
    <p:extLst>
      <p:ext uri="{BB962C8B-B14F-4D97-AF65-F5344CB8AC3E}">
        <p14:creationId xmlns:p14="http://schemas.microsoft.com/office/powerpoint/2010/main" val="3515495487"/>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00BA7D7-35B6-6BB3-DBA3-1287B73C1432}"/>
            </a:ext>
          </a:extLst>
        </p:cNvPr>
        <p:cNvGrpSpPr/>
        <p:nvPr/>
      </p:nvGrpSpPr>
      <p:grpSpPr>
        <a:xfrm>
          <a:off x="0" y="0"/>
          <a:ext cx="0" cy="0"/>
          <a:chOff x="0" y="0"/>
          <a:chExt cx="0" cy="0"/>
        </a:xfrm>
      </p:grpSpPr>
      <p:sp>
        <p:nvSpPr>
          <p:cNvPr id="2" name="Marcador de contenido 2">
            <a:extLst>
              <a:ext uri="{FF2B5EF4-FFF2-40B4-BE49-F238E27FC236}">
                <a16:creationId xmlns:a16="http://schemas.microsoft.com/office/drawing/2014/main" id="{74876D3F-AD3D-C6A8-486F-E4527D8B4321}"/>
              </a:ext>
            </a:extLst>
          </p:cNvPr>
          <p:cNvSpPr>
            <a:spLocks noGrp="1"/>
          </p:cNvSpPr>
          <p:nvPr>
            <p:ph idx="1"/>
          </p:nvPr>
        </p:nvSpPr>
        <p:spPr>
          <a:xfrm>
            <a:off x="346587" y="2633578"/>
            <a:ext cx="10515600" cy="3157622"/>
          </a:xfrm>
        </p:spPr>
        <p:txBody>
          <a:bodyPr>
            <a:normAutofit/>
          </a:bodyPr>
          <a:lstStyle/>
          <a:p>
            <a:pPr marL="514350" lvl="0" indent="-514350" eaLnBrk="0" fontAlgn="base" hangingPunct="0">
              <a:lnSpc>
                <a:spcPct val="170000"/>
              </a:lnSpc>
              <a:spcBef>
                <a:spcPct val="0"/>
              </a:spcBef>
              <a:spcAft>
                <a:spcPct val="0"/>
              </a:spcAft>
              <a:buFont typeface="+mj-lt"/>
              <a:buAutoNum type="arabicPeriod" startAt="5"/>
            </a:pPr>
            <a:r>
              <a:rPr lang="es-ES" altLang="es-ES" dirty="0">
                <a:latin typeface="Arial" panose="020B0604020202020204" pitchFamily="34" charset="0"/>
              </a:rPr>
              <a:t> Reflejar, claramente el tratamiento de las variables, </a:t>
            </a:r>
          </a:p>
          <a:p>
            <a:pPr marL="514350" lvl="0" indent="-514350" eaLnBrk="0" fontAlgn="base" hangingPunct="0">
              <a:lnSpc>
                <a:spcPct val="170000"/>
              </a:lnSpc>
              <a:spcBef>
                <a:spcPct val="0"/>
              </a:spcBef>
              <a:spcAft>
                <a:spcPct val="0"/>
              </a:spcAft>
              <a:buFont typeface="+mj-lt"/>
              <a:buAutoNum type="arabicPeriod" startAt="5"/>
            </a:pPr>
            <a:r>
              <a:rPr lang="es-ES" altLang="es-ES" dirty="0">
                <a:latin typeface="Arial" panose="020B0604020202020204" pitchFamily="34" charset="0"/>
              </a:rPr>
              <a:t>Puede realizarse en forma de pregunta o de manera objetiva</a:t>
            </a:r>
          </a:p>
          <a:p>
            <a:pPr marL="514350" lvl="0" indent="-514350" eaLnBrk="0" fontAlgn="base" hangingPunct="0">
              <a:lnSpc>
                <a:spcPct val="170000"/>
              </a:lnSpc>
              <a:spcBef>
                <a:spcPct val="0"/>
              </a:spcBef>
              <a:spcAft>
                <a:spcPct val="0"/>
              </a:spcAft>
              <a:buFont typeface="+mj-lt"/>
              <a:buAutoNum type="arabicPeriod" startAt="5"/>
            </a:pPr>
            <a:r>
              <a:rPr lang="es-ES" altLang="es-ES" dirty="0">
                <a:latin typeface="Arial" panose="020B0604020202020204" pitchFamily="34" charset="0"/>
              </a:rPr>
              <a:t>Es necesario enmarcar el problema en un contexto teórico</a:t>
            </a:r>
          </a:p>
          <a:p>
            <a:pPr marL="0" lvl="0" indent="0" eaLnBrk="0" fontAlgn="base" hangingPunct="0">
              <a:lnSpc>
                <a:spcPct val="170000"/>
              </a:lnSpc>
              <a:spcBef>
                <a:spcPct val="0"/>
              </a:spcBef>
              <a:spcAft>
                <a:spcPct val="0"/>
              </a:spcAft>
              <a:buNone/>
            </a:pPr>
            <a:r>
              <a:rPr lang="es-ES" altLang="es-ES" dirty="0">
                <a:latin typeface="Arial" panose="020B0604020202020204" pitchFamily="34" charset="0"/>
              </a:rPr>
              <a:t>    determinado, que sirva de referencia conceptual del estudio.</a:t>
            </a:r>
            <a:endParaRPr lang="es-ES" dirty="0"/>
          </a:p>
        </p:txBody>
      </p:sp>
      <p:sp>
        <p:nvSpPr>
          <p:cNvPr id="7" name="CuadroTexto 6">
            <a:extLst>
              <a:ext uri="{FF2B5EF4-FFF2-40B4-BE49-F238E27FC236}">
                <a16:creationId xmlns:a16="http://schemas.microsoft.com/office/drawing/2014/main" id="{23CEC767-2608-8E30-4422-4F2731075542}"/>
              </a:ext>
            </a:extLst>
          </p:cNvPr>
          <p:cNvSpPr txBox="1"/>
          <p:nvPr/>
        </p:nvSpPr>
        <p:spPr>
          <a:xfrm>
            <a:off x="1297858" y="1679422"/>
            <a:ext cx="6430296" cy="553998"/>
          </a:xfrm>
          <a:prstGeom prst="rect">
            <a:avLst/>
          </a:prstGeom>
          <a:noFill/>
        </p:spPr>
        <p:txBody>
          <a:bodyPr wrap="square">
            <a:spAutoFit/>
          </a:bodyPr>
          <a:lstStyle/>
          <a:p>
            <a:pPr marL="0" lvl="0" indent="0" eaLnBrk="0" fontAlgn="base" hangingPunct="0">
              <a:lnSpc>
                <a:spcPct val="100000"/>
              </a:lnSpc>
              <a:spcBef>
                <a:spcPct val="0"/>
              </a:spcBef>
              <a:spcAft>
                <a:spcPct val="0"/>
              </a:spcAft>
              <a:buNone/>
            </a:pPr>
            <a:r>
              <a:rPr lang="es-ES" altLang="es-ES" sz="3000" dirty="0">
                <a:latin typeface="Arial" panose="020B0604020202020204" pitchFamily="34" charset="0"/>
              </a:rPr>
              <a:t>Su formulación debe ser</a:t>
            </a:r>
          </a:p>
        </p:txBody>
      </p:sp>
    </p:spTree>
    <p:extLst>
      <p:ext uri="{BB962C8B-B14F-4D97-AF65-F5344CB8AC3E}">
        <p14:creationId xmlns:p14="http://schemas.microsoft.com/office/powerpoint/2010/main" val="245449940"/>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Marcador de contenido 2">
            <a:extLst>
              <a:ext uri="{FF2B5EF4-FFF2-40B4-BE49-F238E27FC236}">
                <a16:creationId xmlns:a16="http://schemas.microsoft.com/office/drawing/2014/main" id="{D512CD8A-9E01-B8B4-E798-DF722083651A}"/>
              </a:ext>
            </a:extLst>
          </p:cNvPr>
          <p:cNvSpPr>
            <a:spLocks noGrp="1"/>
          </p:cNvSpPr>
          <p:nvPr>
            <p:ph idx="1"/>
          </p:nvPr>
        </p:nvSpPr>
        <p:spPr>
          <a:xfrm>
            <a:off x="396240" y="1876425"/>
            <a:ext cx="10906760" cy="4351338"/>
          </a:xfrm>
        </p:spPr>
        <p:txBody>
          <a:bodyPr>
            <a:normAutofit fontScale="92500" lnSpcReduction="10000"/>
          </a:bodyPr>
          <a:lstStyle/>
          <a:p>
            <a:pPr marL="0" indent="0" algn="ctr">
              <a:buNone/>
            </a:pPr>
            <a:r>
              <a:rPr lang="es-ES" b="1" dirty="0">
                <a:latin typeface="Arial" panose="020B0604020202020204" pitchFamily="34" charset="0"/>
                <a:cs typeface="Arial" panose="020B0604020202020204" pitchFamily="34" charset="0"/>
              </a:rPr>
              <a:t>Problema Científico</a:t>
            </a:r>
          </a:p>
          <a:p>
            <a:pPr marL="0" indent="0">
              <a:buNone/>
            </a:pPr>
            <a:endParaRPr lang="es-ES" dirty="0"/>
          </a:p>
          <a:p>
            <a:pPr marL="0" indent="0">
              <a:lnSpc>
                <a:spcPct val="150000"/>
              </a:lnSpc>
              <a:spcBef>
                <a:spcPts val="0"/>
              </a:spcBef>
              <a:buNone/>
            </a:pPr>
            <a:r>
              <a:rPr lang="es-ES" dirty="0"/>
              <a:t>¿Cuales han sido las principales causas de muerte en el Hospital Finlay en el año 2024? </a:t>
            </a:r>
          </a:p>
          <a:p>
            <a:pPr marL="0" indent="0">
              <a:lnSpc>
                <a:spcPct val="150000"/>
              </a:lnSpc>
              <a:spcBef>
                <a:spcPts val="0"/>
              </a:spcBef>
              <a:buNone/>
            </a:pPr>
            <a:r>
              <a:rPr lang="es-ES" dirty="0"/>
              <a:t>¿Podrá ser mejorado el número de complicaciones por colonoscopia en el hospital x ? </a:t>
            </a:r>
          </a:p>
          <a:p>
            <a:pPr marL="0" indent="0">
              <a:lnSpc>
                <a:spcPct val="150000"/>
              </a:lnSpc>
              <a:spcBef>
                <a:spcPts val="0"/>
              </a:spcBef>
              <a:buNone/>
            </a:pPr>
            <a:r>
              <a:rPr lang="es-ES" dirty="0"/>
              <a:t>¿Qué características presentan las intervenciones por cirugía invasiva mínima en x?</a:t>
            </a:r>
          </a:p>
        </p:txBody>
      </p:sp>
      <p:cxnSp>
        <p:nvCxnSpPr>
          <p:cNvPr id="6" name="Conector recto 5">
            <a:extLst>
              <a:ext uri="{FF2B5EF4-FFF2-40B4-BE49-F238E27FC236}">
                <a16:creationId xmlns:a16="http://schemas.microsoft.com/office/drawing/2014/main" id="{6F5F042D-3B18-611B-9311-4F187F34EF6B}"/>
              </a:ext>
            </a:extLst>
          </p:cNvPr>
          <p:cNvCxnSpPr>
            <a:cxnSpLocks/>
          </p:cNvCxnSpPr>
          <p:nvPr/>
        </p:nvCxnSpPr>
        <p:spPr>
          <a:xfrm flipH="1">
            <a:off x="1155505" y="847957"/>
            <a:ext cx="9062720" cy="5364000"/>
          </a:xfrm>
          <a:prstGeom prst="line">
            <a:avLst/>
          </a:prstGeom>
        </p:spPr>
        <p:style>
          <a:lnRef idx="3">
            <a:schemeClr val="accent2"/>
          </a:lnRef>
          <a:fillRef idx="0">
            <a:schemeClr val="accent2"/>
          </a:fillRef>
          <a:effectRef idx="2">
            <a:schemeClr val="accent2"/>
          </a:effectRef>
          <a:fontRef idx="minor">
            <a:schemeClr val="tx1"/>
          </a:fontRef>
        </p:style>
      </p:cxnSp>
      <p:cxnSp>
        <p:nvCxnSpPr>
          <p:cNvPr id="7" name="Conector recto 6">
            <a:extLst>
              <a:ext uri="{FF2B5EF4-FFF2-40B4-BE49-F238E27FC236}">
                <a16:creationId xmlns:a16="http://schemas.microsoft.com/office/drawing/2014/main" id="{43B6A5E3-DF53-56A4-27DF-D9E60BCE8A43}"/>
              </a:ext>
            </a:extLst>
          </p:cNvPr>
          <p:cNvCxnSpPr>
            <a:cxnSpLocks/>
          </p:cNvCxnSpPr>
          <p:nvPr/>
        </p:nvCxnSpPr>
        <p:spPr>
          <a:xfrm>
            <a:off x="802640" y="1056640"/>
            <a:ext cx="10160000" cy="4896000"/>
          </a:xfrm>
          <a:prstGeom prst="line">
            <a:avLst/>
          </a:prstGeom>
          <a:ln>
            <a:solidFill>
              <a:srgbClr val="FF0000"/>
            </a:solidFill>
          </a:ln>
        </p:spPr>
        <p:style>
          <a:lnRef idx="1">
            <a:schemeClr val="dk1"/>
          </a:lnRef>
          <a:fillRef idx="0">
            <a:schemeClr val="dk1"/>
          </a:fillRef>
          <a:effectRef idx="0">
            <a:schemeClr val="dk1"/>
          </a:effectRef>
          <a:fontRef idx="minor">
            <a:schemeClr val="tx1"/>
          </a:fontRef>
        </p:style>
      </p:cxnSp>
    </p:spTree>
    <p:extLst>
      <p:ext uri="{BB962C8B-B14F-4D97-AF65-F5344CB8AC3E}">
        <p14:creationId xmlns:p14="http://schemas.microsoft.com/office/powerpoint/2010/main" val="179177327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6"/>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7"/>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Marcador de contenido 2">
            <a:extLst>
              <a:ext uri="{FF2B5EF4-FFF2-40B4-BE49-F238E27FC236}">
                <a16:creationId xmlns:a16="http://schemas.microsoft.com/office/drawing/2014/main" id="{130BE8AA-AA17-2F1D-1B40-650B338DACCF}"/>
              </a:ext>
            </a:extLst>
          </p:cNvPr>
          <p:cNvSpPr>
            <a:spLocks noGrp="1"/>
          </p:cNvSpPr>
          <p:nvPr>
            <p:ph idx="1"/>
          </p:nvPr>
        </p:nvSpPr>
        <p:spPr>
          <a:xfrm>
            <a:off x="517820" y="1966522"/>
            <a:ext cx="10911348" cy="4351338"/>
          </a:xfrm>
        </p:spPr>
        <p:txBody>
          <a:bodyPr/>
          <a:lstStyle/>
          <a:p>
            <a:pPr marL="0" indent="0">
              <a:buNone/>
            </a:pPr>
            <a:r>
              <a:rPr lang="es-ES" dirty="0"/>
              <a:t>                                   </a:t>
            </a:r>
            <a:r>
              <a:rPr lang="es-ES" b="1" dirty="0">
                <a:solidFill>
                  <a:srgbClr val="FF0000"/>
                </a:solidFill>
                <a:latin typeface="Arial" panose="020B0604020202020204" pitchFamily="34" charset="0"/>
                <a:cs typeface="Arial" panose="020B0604020202020204" pitchFamily="34" charset="0"/>
              </a:rPr>
              <a:t>Efecto sombrilla</a:t>
            </a:r>
          </a:p>
          <a:p>
            <a:pPr marL="0" indent="0" algn="just">
              <a:lnSpc>
                <a:spcPct val="150000"/>
              </a:lnSpc>
              <a:spcBef>
                <a:spcPts val="0"/>
              </a:spcBef>
              <a:buNone/>
            </a:pPr>
            <a:r>
              <a:rPr lang="es-ES" dirty="0">
                <a:latin typeface="Arial" panose="020B0604020202020204" pitchFamily="34" charset="0"/>
                <a:cs typeface="Arial" panose="020B0604020202020204" pitchFamily="34" charset="0"/>
              </a:rPr>
              <a:t>Un tema da lugar a varios problemas de investigación En estos casos es necesario tomar decisiones: escoger el más importante, urgente, factible, viable, el de mayor interés por parte del investigador o institución.</a:t>
            </a:r>
          </a:p>
          <a:p>
            <a:pPr marL="0" indent="0" algn="just">
              <a:lnSpc>
                <a:spcPct val="150000"/>
              </a:lnSpc>
              <a:spcBef>
                <a:spcPts val="0"/>
              </a:spcBef>
              <a:buNone/>
            </a:pPr>
            <a:r>
              <a:rPr lang="es-ES" dirty="0">
                <a:latin typeface="Arial" panose="020B0604020202020204" pitchFamily="34" charset="0"/>
                <a:cs typeface="Arial" panose="020B0604020202020204" pitchFamily="34" charset="0"/>
              </a:rPr>
              <a:t>Solución: Hacer subproyectos</a:t>
            </a:r>
          </a:p>
          <a:p>
            <a:pPr marL="0" indent="0" algn="just">
              <a:lnSpc>
                <a:spcPct val="150000"/>
              </a:lnSpc>
              <a:spcBef>
                <a:spcPts val="0"/>
              </a:spcBef>
              <a:buNone/>
            </a:pPr>
            <a:endParaRPr lang="es-ES" dirty="0"/>
          </a:p>
        </p:txBody>
      </p:sp>
    </p:spTree>
    <p:extLst>
      <p:ext uri="{BB962C8B-B14F-4D97-AF65-F5344CB8AC3E}">
        <p14:creationId xmlns:p14="http://schemas.microsoft.com/office/powerpoint/2010/main" val="1484577960"/>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Marcador de contenido 2">
            <a:extLst>
              <a:ext uri="{FF2B5EF4-FFF2-40B4-BE49-F238E27FC236}">
                <a16:creationId xmlns:a16="http://schemas.microsoft.com/office/drawing/2014/main" id="{755AF6AE-A121-19F8-E4FB-AE6B0A58CB58}"/>
              </a:ext>
            </a:extLst>
          </p:cNvPr>
          <p:cNvSpPr>
            <a:spLocks noGrp="1"/>
          </p:cNvSpPr>
          <p:nvPr>
            <p:ph idx="1"/>
          </p:nvPr>
        </p:nvSpPr>
        <p:spPr/>
        <p:txBody>
          <a:bodyPr>
            <a:normAutofit/>
          </a:bodyPr>
          <a:lstStyle/>
          <a:p>
            <a:pPr marL="0" indent="0" algn="ctr">
              <a:buNone/>
            </a:pPr>
            <a:r>
              <a:rPr lang="es-ES" sz="3200" b="1" dirty="0"/>
              <a:t>Problema Científico </a:t>
            </a:r>
          </a:p>
          <a:p>
            <a:pPr marL="0" indent="0" algn="ctr">
              <a:buNone/>
            </a:pPr>
            <a:endParaRPr lang="es-ES" sz="3200" b="1" dirty="0"/>
          </a:p>
          <a:p>
            <a:pPr marL="0" indent="0" algn="ctr">
              <a:buNone/>
            </a:pPr>
            <a:endParaRPr lang="es-ES" sz="3200" b="1" dirty="0"/>
          </a:p>
          <a:p>
            <a:pPr marL="0" indent="0" algn="ctr">
              <a:buNone/>
            </a:pPr>
            <a:r>
              <a:rPr lang="es-ES" sz="3200" b="1" dirty="0"/>
              <a:t>¿Cómo mejorar la  </a:t>
            </a:r>
            <a:r>
              <a:rPr lang="es-ES" sz="3200" b="1" u="sng" dirty="0">
                <a:solidFill>
                  <a:srgbClr val="FF0000"/>
                </a:solidFill>
              </a:rPr>
              <a:t>mortalidad por neumonía </a:t>
            </a:r>
            <a:r>
              <a:rPr lang="es-ES" sz="3200" b="1" dirty="0"/>
              <a:t>intrahospitalaria </a:t>
            </a:r>
            <a:r>
              <a:rPr lang="es-ES" sz="3200" b="1" dirty="0">
                <a:solidFill>
                  <a:srgbClr val="002060"/>
                </a:solidFill>
              </a:rPr>
              <a:t>en los </a:t>
            </a:r>
            <a:r>
              <a:rPr lang="es-ES" sz="3200" b="1" u="sng" dirty="0">
                <a:solidFill>
                  <a:srgbClr val="002060"/>
                </a:solidFill>
              </a:rPr>
              <a:t>pacientes mayores de 60 años</a:t>
            </a:r>
            <a:r>
              <a:rPr lang="es-ES" sz="3200" b="1" dirty="0"/>
              <a:t>?</a:t>
            </a:r>
          </a:p>
        </p:txBody>
      </p:sp>
      <p:sp>
        <p:nvSpPr>
          <p:cNvPr id="4" name="Bocadillo: rectángulo 3">
            <a:extLst>
              <a:ext uri="{FF2B5EF4-FFF2-40B4-BE49-F238E27FC236}">
                <a16:creationId xmlns:a16="http://schemas.microsoft.com/office/drawing/2014/main" id="{1B7F782A-981B-6A3C-B9A4-05CAFC568C9B}"/>
              </a:ext>
            </a:extLst>
          </p:cNvPr>
          <p:cNvSpPr/>
          <p:nvPr/>
        </p:nvSpPr>
        <p:spPr>
          <a:xfrm>
            <a:off x="477520" y="2245360"/>
            <a:ext cx="2997200" cy="792480"/>
          </a:xfrm>
          <a:prstGeom prst="wedgeRectCallout">
            <a:avLst>
              <a:gd name="adj1" fmla="val 171805"/>
              <a:gd name="adj2" fmla="val 118910"/>
            </a:avLst>
          </a:prstGeom>
        </p:spPr>
        <p:style>
          <a:lnRef idx="2">
            <a:schemeClr val="accent6"/>
          </a:lnRef>
          <a:fillRef idx="1">
            <a:schemeClr val="lt1"/>
          </a:fillRef>
          <a:effectRef idx="0">
            <a:schemeClr val="accent6"/>
          </a:effectRef>
          <a:fontRef idx="minor">
            <a:schemeClr val="dk1"/>
          </a:fontRef>
        </p:style>
        <p:txBody>
          <a:bodyPr rtlCol="0" anchor="ctr"/>
          <a:lstStyle/>
          <a:p>
            <a:pPr algn="ctr"/>
            <a:r>
              <a:rPr lang="es-ES" sz="2400" dirty="0">
                <a:latin typeface="Arial" panose="020B0604020202020204" pitchFamily="34" charset="0"/>
                <a:cs typeface="Arial" panose="020B0604020202020204" pitchFamily="34" charset="0"/>
              </a:rPr>
              <a:t>Objeto de estudio</a:t>
            </a:r>
          </a:p>
        </p:txBody>
      </p:sp>
      <p:sp>
        <p:nvSpPr>
          <p:cNvPr id="5" name="Bocadillo: rectángulo 4">
            <a:extLst>
              <a:ext uri="{FF2B5EF4-FFF2-40B4-BE49-F238E27FC236}">
                <a16:creationId xmlns:a16="http://schemas.microsoft.com/office/drawing/2014/main" id="{32651753-C10C-F61C-0354-D0825E8C24CB}"/>
              </a:ext>
            </a:extLst>
          </p:cNvPr>
          <p:cNvSpPr/>
          <p:nvPr/>
        </p:nvSpPr>
        <p:spPr>
          <a:xfrm>
            <a:off x="609600" y="4886960"/>
            <a:ext cx="2997200" cy="792480"/>
          </a:xfrm>
          <a:prstGeom prst="wedgeRectCallout">
            <a:avLst>
              <a:gd name="adj1" fmla="val 168754"/>
              <a:gd name="adj2" fmla="val -108013"/>
            </a:avLst>
          </a:prstGeom>
        </p:spPr>
        <p:style>
          <a:lnRef idx="2">
            <a:schemeClr val="accent6"/>
          </a:lnRef>
          <a:fillRef idx="1">
            <a:schemeClr val="lt1"/>
          </a:fillRef>
          <a:effectRef idx="0">
            <a:schemeClr val="accent6"/>
          </a:effectRef>
          <a:fontRef idx="minor">
            <a:schemeClr val="dk1"/>
          </a:fontRef>
        </p:style>
        <p:txBody>
          <a:bodyPr rtlCol="0" anchor="ctr"/>
          <a:lstStyle/>
          <a:p>
            <a:pPr algn="ctr"/>
            <a:r>
              <a:rPr lang="es-ES" sz="2400" dirty="0">
                <a:latin typeface="Arial" panose="020B0604020202020204" pitchFamily="34" charset="0"/>
                <a:cs typeface="Arial" panose="020B0604020202020204" pitchFamily="34" charset="0"/>
              </a:rPr>
              <a:t>Campo de acción</a:t>
            </a:r>
          </a:p>
        </p:txBody>
      </p:sp>
      <p:sp>
        <p:nvSpPr>
          <p:cNvPr id="6" name="Bocadillo: rectángulo 5">
            <a:extLst>
              <a:ext uri="{FF2B5EF4-FFF2-40B4-BE49-F238E27FC236}">
                <a16:creationId xmlns:a16="http://schemas.microsoft.com/office/drawing/2014/main" id="{D2131FB1-0BBF-CD97-00F6-E01ABC579CDE}"/>
              </a:ext>
            </a:extLst>
          </p:cNvPr>
          <p:cNvSpPr/>
          <p:nvPr/>
        </p:nvSpPr>
        <p:spPr>
          <a:xfrm>
            <a:off x="6959600" y="2448560"/>
            <a:ext cx="3545840" cy="792480"/>
          </a:xfrm>
          <a:prstGeom prst="wedgeRectCallout">
            <a:avLst>
              <a:gd name="adj1" fmla="val -36610"/>
              <a:gd name="adj2" fmla="val 85845"/>
            </a:avLst>
          </a:prstGeom>
        </p:spPr>
        <p:style>
          <a:lnRef idx="2">
            <a:schemeClr val="accent6"/>
          </a:lnRef>
          <a:fillRef idx="1">
            <a:schemeClr val="lt1"/>
          </a:fillRef>
          <a:effectRef idx="0">
            <a:schemeClr val="accent6"/>
          </a:effectRef>
          <a:fontRef idx="minor">
            <a:schemeClr val="dk1"/>
          </a:fontRef>
        </p:style>
        <p:txBody>
          <a:bodyPr rtlCol="0" anchor="ctr"/>
          <a:lstStyle/>
          <a:p>
            <a:pPr algn="ctr"/>
            <a:r>
              <a:rPr lang="es-ES" sz="2400" dirty="0">
                <a:latin typeface="Arial" panose="020B0604020202020204" pitchFamily="34" charset="0"/>
                <a:cs typeface="Arial" panose="020B0604020202020204" pitchFamily="34" charset="0"/>
              </a:rPr>
              <a:t>Variable dependiente</a:t>
            </a:r>
          </a:p>
        </p:txBody>
      </p:sp>
    </p:spTree>
    <p:extLst>
      <p:ext uri="{BB962C8B-B14F-4D97-AF65-F5344CB8AC3E}">
        <p14:creationId xmlns:p14="http://schemas.microsoft.com/office/powerpoint/2010/main" val="165550157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6"/>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grpId="0" nodeType="clickEffect">
                                  <p:stCondLst>
                                    <p:cond delay="0"/>
                                  </p:stCondLst>
                                  <p:childTnLst>
                                    <p:set>
                                      <p:cBhvr>
                                        <p:cTn id="12" dur="1" fill="hold">
                                          <p:stCondLst>
                                            <p:cond delay="0"/>
                                          </p:stCondLst>
                                        </p:cTn>
                                        <p:tgtEl>
                                          <p:spTgt spid="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P spid="5" grpId="0" animBg="1"/>
      <p:bldP spid="6" grpId="0" animBg="1"/>
    </p:bld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Marcador de contenido 2">
            <a:extLst>
              <a:ext uri="{FF2B5EF4-FFF2-40B4-BE49-F238E27FC236}">
                <a16:creationId xmlns:a16="http://schemas.microsoft.com/office/drawing/2014/main" id="{702F5EF5-91C9-DDF4-F4C1-53A6477367D1}"/>
              </a:ext>
            </a:extLst>
          </p:cNvPr>
          <p:cNvSpPr>
            <a:spLocks noGrp="1"/>
          </p:cNvSpPr>
          <p:nvPr>
            <p:ph idx="1"/>
          </p:nvPr>
        </p:nvSpPr>
        <p:spPr>
          <a:xfrm>
            <a:off x="408870" y="1812634"/>
            <a:ext cx="10249298" cy="4351338"/>
          </a:xfrm>
        </p:spPr>
        <p:txBody>
          <a:bodyPr>
            <a:normAutofit fontScale="70000" lnSpcReduction="20000"/>
          </a:bodyPr>
          <a:lstStyle/>
          <a:p>
            <a:pPr marL="0" indent="0">
              <a:lnSpc>
                <a:spcPct val="150000"/>
              </a:lnSpc>
              <a:spcBef>
                <a:spcPts val="0"/>
              </a:spcBef>
              <a:buNone/>
            </a:pPr>
            <a:r>
              <a:rPr lang="es-ES" sz="4000" dirty="0">
                <a:latin typeface="Arial" panose="020B0604020202020204" pitchFamily="34" charset="0"/>
                <a:cs typeface="Arial" panose="020B0604020202020204" pitchFamily="34" charset="0"/>
              </a:rPr>
              <a:t>Tipos de problema científico según el diseño</a:t>
            </a:r>
          </a:p>
          <a:p>
            <a:pPr>
              <a:lnSpc>
                <a:spcPct val="150000"/>
              </a:lnSpc>
              <a:spcBef>
                <a:spcPts val="0"/>
              </a:spcBef>
            </a:pPr>
            <a:endParaRPr lang="es-ES" sz="3100" dirty="0">
              <a:latin typeface="Arial" panose="020B0604020202020204" pitchFamily="34" charset="0"/>
              <a:cs typeface="Arial" panose="020B0604020202020204" pitchFamily="34" charset="0"/>
            </a:endParaRPr>
          </a:p>
          <a:p>
            <a:pPr>
              <a:lnSpc>
                <a:spcPct val="150000"/>
              </a:lnSpc>
              <a:spcBef>
                <a:spcPts val="0"/>
              </a:spcBef>
            </a:pPr>
            <a:r>
              <a:rPr lang="es-ES" sz="3300" b="1" u="sng" dirty="0">
                <a:solidFill>
                  <a:schemeClr val="tx2">
                    <a:lumMod val="75000"/>
                  </a:schemeClr>
                </a:solidFill>
                <a:latin typeface="Arial" panose="020B0604020202020204" pitchFamily="34" charset="0"/>
                <a:cs typeface="Arial" panose="020B0604020202020204" pitchFamily="34" charset="0"/>
              </a:rPr>
              <a:t>Problemas descriptivos</a:t>
            </a:r>
            <a:r>
              <a:rPr lang="es-ES" sz="3300" dirty="0">
                <a:latin typeface="Arial" panose="020B0604020202020204" pitchFamily="34" charset="0"/>
                <a:cs typeface="Arial" panose="020B0604020202020204" pitchFamily="34" charset="0"/>
              </a:rPr>
              <a:t>: Se centran en describir una situación, fenómeno o característica específica sin tratar de explicar las causas. Por ejemplo, describir el perfil demográfico de una población.</a:t>
            </a:r>
          </a:p>
          <a:p>
            <a:pPr>
              <a:lnSpc>
                <a:spcPct val="150000"/>
              </a:lnSpc>
              <a:spcBef>
                <a:spcPts val="0"/>
              </a:spcBef>
            </a:pPr>
            <a:endParaRPr lang="es-ES" sz="3300" dirty="0">
              <a:latin typeface="Arial" panose="020B0604020202020204" pitchFamily="34" charset="0"/>
              <a:cs typeface="Arial" panose="020B0604020202020204" pitchFamily="34" charset="0"/>
            </a:endParaRPr>
          </a:p>
          <a:p>
            <a:pPr>
              <a:lnSpc>
                <a:spcPct val="150000"/>
              </a:lnSpc>
              <a:spcBef>
                <a:spcPts val="0"/>
              </a:spcBef>
            </a:pPr>
            <a:r>
              <a:rPr lang="es-ES" sz="3300" b="1" u="sng" dirty="0">
                <a:solidFill>
                  <a:schemeClr val="tx2">
                    <a:lumMod val="75000"/>
                  </a:schemeClr>
                </a:solidFill>
                <a:latin typeface="Arial" panose="020B0604020202020204" pitchFamily="34" charset="0"/>
                <a:cs typeface="Arial" panose="020B0604020202020204" pitchFamily="34" charset="0"/>
              </a:rPr>
              <a:t>Problemas exploratorios</a:t>
            </a:r>
            <a:r>
              <a:rPr lang="es-ES" sz="3300" dirty="0">
                <a:latin typeface="Arial" panose="020B0604020202020204" pitchFamily="34" charset="0"/>
                <a:cs typeface="Arial" panose="020B0604020202020204" pitchFamily="34" charset="0"/>
              </a:rPr>
              <a:t>: Buscan obtener una comprensión inicial o descubrir aspectos poco conocidos sobre un tema. Por ejemplo, explorar tendencias emergentes en un campo específico.</a:t>
            </a:r>
          </a:p>
          <a:p>
            <a:endParaRPr lang="es-ES" dirty="0"/>
          </a:p>
        </p:txBody>
      </p:sp>
    </p:spTree>
    <p:extLst>
      <p:ext uri="{BB962C8B-B14F-4D97-AF65-F5344CB8AC3E}">
        <p14:creationId xmlns:p14="http://schemas.microsoft.com/office/powerpoint/2010/main" val="1921466403"/>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0E2BCD9-872C-C44C-D442-19EE7993BFB1}"/>
            </a:ext>
          </a:extLst>
        </p:cNvPr>
        <p:cNvGrpSpPr/>
        <p:nvPr/>
      </p:nvGrpSpPr>
      <p:grpSpPr>
        <a:xfrm>
          <a:off x="0" y="0"/>
          <a:ext cx="0" cy="0"/>
          <a:chOff x="0" y="0"/>
          <a:chExt cx="0" cy="0"/>
        </a:xfrm>
      </p:grpSpPr>
      <p:sp>
        <p:nvSpPr>
          <p:cNvPr id="3" name="Marcador de contenido 2">
            <a:extLst>
              <a:ext uri="{FF2B5EF4-FFF2-40B4-BE49-F238E27FC236}">
                <a16:creationId xmlns:a16="http://schemas.microsoft.com/office/drawing/2014/main" id="{5AD4F1CF-956B-75D1-48C8-5700F01C0521}"/>
              </a:ext>
            </a:extLst>
          </p:cNvPr>
          <p:cNvSpPr>
            <a:spLocks noGrp="1"/>
          </p:cNvSpPr>
          <p:nvPr>
            <p:ph idx="1"/>
          </p:nvPr>
        </p:nvSpPr>
        <p:spPr>
          <a:xfrm>
            <a:off x="216309" y="1917506"/>
            <a:ext cx="11316929" cy="4351338"/>
          </a:xfrm>
        </p:spPr>
        <p:txBody>
          <a:bodyPr>
            <a:normAutofit/>
          </a:bodyPr>
          <a:lstStyle/>
          <a:p>
            <a:pPr>
              <a:lnSpc>
                <a:spcPct val="150000"/>
              </a:lnSpc>
              <a:spcBef>
                <a:spcPts val="0"/>
              </a:spcBef>
            </a:pPr>
            <a:r>
              <a:rPr lang="es-ES" sz="2400" b="1" u="sng" dirty="0">
                <a:solidFill>
                  <a:schemeClr val="tx2">
                    <a:lumMod val="75000"/>
                  </a:schemeClr>
                </a:solidFill>
                <a:latin typeface="Arial" panose="020B0604020202020204" pitchFamily="34" charset="0"/>
                <a:cs typeface="Arial" panose="020B0604020202020204" pitchFamily="34" charset="0"/>
              </a:rPr>
              <a:t>Problemas explicativos o causales</a:t>
            </a:r>
            <a:r>
              <a:rPr lang="es-ES" sz="2400" dirty="0">
                <a:latin typeface="Arial" panose="020B0604020202020204" pitchFamily="34" charset="0"/>
                <a:cs typeface="Arial" panose="020B0604020202020204" pitchFamily="34" charset="0"/>
              </a:rPr>
              <a:t>: Tratan de determinar las causas o relaciones de causa y efecto entre variables. Por ejemplo, investigar cómo un factor afecta la salud de un grupo.</a:t>
            </a:r>
          </a:p>
          <a:p>
            <a:pPr>
              <a:lnSpc>
                <a:spcPct val="150000"/>
              </a:lnSpc>
              <a:spcBef>
                <a:spcPts val="0"/>
              </a:spcBef>
            </a:pPr>
            <a:endParaRPr lang="es-ES" sz="2400" dirty="0">
              <a:latin typeface="Arial" panose="020B0604020202020204" pitchFamily="34" charset="0"/>
              <a:cs typeface="Arial" panose="020B0604020202020204" pitchFamily="34" charset="0"/>
            </a:endParaRPr>
          </a:p>
          <a:p>
            <a:pPr>
              <a:lnSpc>
                <a:spcPct val="150000"/>
              </a:lnSpc>
              <a:spcBef>
                <a:spcPts val="0"/>
              </a:spcBef>
            </a:pPr>
            <a:r>
              <a:rPr lang="es-ES" sz="2400" b="1" u="sng" dirty="0">
                <a:solidFill>
                  <a:schemeClr val="tx2">
                    <a:lumMod val="75000"/>
                  </a:schemeClr>
                </a:solidFill>
                <a:latin typeface="Arial" panose="020B0604020202020204" pitchFamily="34" charset="0"/>
                <a:cs typeface="Arial" panose="020B0604020202020204" pitchFamily="34" charset="0"/>
              </a:rPr>
              <a:t>Problemas comparativos</a:t>
            </a:r>
            <a:r>
              <a:rPr lang="es-ES" sz="2400" dirty="0">
                <a:latin typeface="Arial" panose="020B0604020202020204" pitchFamily="34" charset="0"/>
                <a:cs typeface="Arial" panose="020B0604020202020204" pitchFamily="34" charset="0"/>
              </a:rPr>
              <a:t>: Implican comparar dos o más grupos, variables o situaciones para establecer diferencias o similitudes. Por ejemplo, comparar la eficacia de dos tratamientos médicos.</a:t>
            </a:r>
          </a:p>
          <a:p>
            <a:endParaRPr lang="es-ES" dirty="0"/>
          </a:p>
        </p:txBody>
      </p:sp>
    </p:spTree>
    <p:extLst>
      <p:ext uri="{BB962C8B-B14F-4D97-AF65-F5344CB8AC3E}">
        <p14:creationId xmlns:p14="http://schemas.microsoft.com/office/powerpoint/2010/main" val="3909563251"/>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Marcador de contenido 2">
            <a:extLst>
              <a:ext uri="{FF2B5EF4-FFF2-40B4-BE49-F238E27FC236}">
                <a16:creationId xmlns:a16="http://schemas.microsoft.com/office/drawing/2014/main" id="{F75239DC-918A-BE66-EB0D-2CDDC51EB152}"/>
              </a:ext>
            </a:extLst>
          </p:cNvPr>
          <p:cNvSpPr>
            <a:spLocks noGrp="1"/>
          </p:cNvSpPr>
          <p:nvPr>
            <p:ph idx="1"/>
          </p:nvPr>
        </p:nvSpPr>
        <p:spPr>
          <a:xfrm>
            <a:off x="384291" y="2048754"/>
            <a:ext cx="10515600" cy="3622926"/>
          </a:xfrm>
        </p:spPr>
        <p:txBody>
          <a:bodyPr>
            <a:normAutofit fontScale="85000" lnSpcReduction="20000"/>
          </a:bodyPr>
          <a:lstStyle/>
          <a:p>
            <a:pPr>
              <a:lnSpc>
                <a:spcPct val="150000"/>
              </a:lnSpc>
              <a:spcBef>
                <a:spcPts val="0"/>
              </a:spcBef>
            </a:pPr>
            <a:r>
              <a:rPr lang="es-ES" b="1" u="sng" dirty="0">
                <a:solidFill>
                  <a:schemeClr val="tx2">
                    <a:lumMod val="75000"/>
                  </a:schemeClr>
                </a:solidFill>
                <a:latin typeface="Arial" panose="020B0604020202020204" pitchFamily="34" charset="0"/>
                <a:cs typeface="Arial" panose="020B0604020202020204" pitchFamily="34" charset="0"/>
              </a:rPr>
              <a:t>Problemas predictivos</a:t>
            </a:r>
            <a:r>
              <a:rPr lang="es-ES" dirty="0">
                <a:latin typeface="Arial" panose="020B0604020202020204" pitchFamily="34" charset="0"/>
                <a:cs typeface="Arial" panose="020B0604020202020204" pitchFamily="34" charset="0"/>
              </a:rPr>
              <a:t>: Intentan anticipar eventos o comportamientos futuros basados en datos o tendencias actuales. Por ejemplo, predecir  epidemias, complicaciones .</a:t>
            </a:r>
          </a:p>
          <a:p>
            <a:pPr>
              <a:lnSpc>
                <a:spcPct val="150000"/>
              </a:lnSpc>
              <a:spcBef>
                <a:spcPts val="0"/>
              </a:spcBef>
            </a:pPr>
            <a:endParaRPr lang="es-ES" dirty="0">
              <a:latin typeface="Arial" panose="020B0604020202020204" pitchFamily="34" charset="0"/>
              <a:cs typeface="Arial" panose="020B0604020202020204" pitchFamily="34" charset="0"/>
            </a:endParaRPr>
          </a:p>
          <a:p>
            <a:pPr>
              <a:lnSpc>
                <a:spcPct val="150000"/>
              </a:lnSpc>
              <a:spcBef>
                <a:spcPts val="0"/>
              </a:spcBef>
            </a:pPr>
            <a:r>
              <a:rPr lang="es-ES" b="1" u="sng" dirty="0">
                <a:solidFill>
                  <a:schemeClr val="tx2">
                    <a:lumMod val="75000"/>
                  </a:schemeClr>
                </a:solidFill>
                <a:latin typeface="Arial" panose="020B0604020202020204" pitchFamily="34" charset="0"/>
                <a:cs typeface="Arial" panose="020B0604020202020204" pitchFamily="34" charset="0"/>
              </a:rPr>
              <a:t>Problemas evaluativos: </a:t>
            </a:r>
            <a:r>
              <a:rPr lang="es-ES" dirty="0">
                <a:latin typeface="Arial" panose="020B0604020202020204" pitchFamily="34" charset="0"/>
                <a:cs typeface="Arial" panose="020B0604020202020204" pitchFamily="34" charset="0"/>
              </a:rPr>
              <a:t>Buscan medir el impacto o resultados de una acción, programa o intervención. Por ejemplo, evaluar la efectividad de un programa de salud pública.</a:t>
            </a:r>
          </a:p>
          <a:p>
            <a:endParaRPr lang="es-ES" dirty="0"/>
          </a:p>
        </p:txBody>
      </p:sp>
    </p:spTree>
    <p:extLst>
      <p:ext uri="{BB962C8B-B14F-4D97-AF65-F5344CB8AC3E}">
        <p14:creationId xmlns:p14="http://schemas.microsoft.com/office/powerpoint/2010/main" val="1721403048"/>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B1B0C98-A145-7C3D-4D9F-6BDF52D76D3D}"/>
            </a:ext>
          </a:extLst>
        </p:cNvPr>
        <p:cNvGrpSpPr/>
        <p:nvPr/>
      </p:nvGrpSpPr>
      <p:grpSpPr>
        <a:xfrm>
          <a:off x="0" y="0"/>
          <a:ext cx="0" cy="0"/>
          <a:chOff x="0" y="0"/>
          <a:chExt cx="0" cy="0"/>
        </a:xfrm>
      </p:grpSpPr>
      <p:sp>
        <p:nvSpPr>
          <p:cNvPr id="3" name="Marcador de contenido 2">
            <a:extLst>
              <a:ext uri="{FF2B5EF4-FFF2-40B4-BE49-F238E27FC236}">
                <a16:creationId xmlns:a16="http://schemas.microsoft.com/office/drawing/2014/main" id="{F64D12AB-21A4-7B30-8116-CC2B5FD26568}"/>
              </a:ext>
            </a:extLst>
          </p:cNvPr>
          <p:cNvSpPr>
            <a:spLocks noGrp="1"/>
          </p:cNvSpPr>
          <p:nvPr>
            <p:ph idx="1"/>
          </p:nvPr>
        </p:nvSpPr>
        <p:spPr>
          <a:xfrm>
            <a:off x="521273" y="1580146"/>
            <a:ext cx="10515600" cy="4488736"/>
          </a:xfrm>
        </p:spPr>
        <p:txBody>
          <a:bodyPr>
            <a:normAutofit/>
          </a:bodyPr>
          <a:lstStyle/>
          <a:p>
            <a:pPr marL="0" indent="0">
              <a:buNone/>
            </a:pPr>
            <a:r>
              <a:rPr lang="es-ES" b="1" u="sng" dirty="0">
                <a:solidFill>
                  <a:schemeClr val="tx2">
                    <a:lumMod val="75000"/>
                  </a:schemeClr>
                </a:solidFill>
                <a:latin typeface="fkGroteskNeue"/>
              </a:rPr>
              <a:t>Problema práctico: </a:t>
            </a:r>
            <a:r>
              <a:rPr lang="es-ES" dirty="0">
                <a:latin typeface="fkGroteskNeue"/>
              </a:rPr>
              <a:t>Es una dificultad o situación que ocurre en el mundo real, en contextos como el laboral, social, económico o en salud.</a:t>
            </a:r>
          </a:p>
          <a:p>
            <a:r>
              <a:rPr lang="es-ES" dirty="0">
                <a:latin typeface="fkGroteskNeue"/>
              </a:rPr>
              <a:t>Reflejan discrepancias entre "lo que es" y "lo que debería ser" y necesitan soluciones concretas y aplicables para mejorar una situación particular. </a:t>
            </a:r>
          </a:p>
          <a:p>
            <a:r>
              <a:rPr lang="es-ES" dirty="0">
                <a:latin typeface="fkGroteskNeue"/>
              </a:rPr>
              <a:t>No necesariamente buscan generar conocimiento nuevo, sino resolver una necesidad o dificultad específica.</a:t>
            </a:r>
          </a:p>
          <a:p>
            <a:pPr marL="0" indent="0" algn="ctr">
              <a:buNone/>
            </a:pPr>
            <a:r>
              <a:rPr lang="es-ES" b="1" u="sng" dirty="0">
                <a:solidFill>
                  <a:srgbClr val="FF0000"/>
                </a:solidFill>
                <a:latin typeface="fkGroteskNeue"/>
              </a:rPr>
              <a:t>No necesitan </a:t>
            </a:r>
            <a:r>
              <a:rPr lang="es-ES" b="1" u="sng" dirty="0" err="1">
                <a:solidFill>
                  <a:srgbClr val="FF0000"/>
                </a:solidFill>
                <a:latin typeface="fkGroteskNeue"/>
              </a:rPr>
              <a:t>perse</a:t>
            </a:r>
            <a:r>
              <a:rPr lang="es-ES" b="1" u="sng" dirty="0">
                <a:solidFill>
                  <a:srgbClr val="FF0000"/>
                </a:solidFill>
                <a:latin typeface="fkGroteskNeue"/>
              </a:rPr>
              <a:t> </a:t>
            </a:r>
            <a:r>
              <a:rPr lang="es-ES" b="1" u="sng" dirty="0">
                <a:solidFill>
                  <a:srgbClr val="FF0000"/>
                </a:solidFill>
                <a:effectLst>
                  <a:outerShdw blurRad="38100" dist="38100" dir="2700000" algn="tl">
                    <a:srgbClr val="000000">
                      <a:alpha val="43137"/>
                    </a:srgbClr>
                  </a:outerShdw>
                </a:effectLst>
                <a:latin typeface="fkGroteskNeue"/>
              </a:rPr>
              <a:t>investigación científica </a:t>
            </a:r>
            <a:r>
              <a:rPr lang="es-ES" b="1" u="sng" dirty="0">
                <a:solidFill>
                  <a:srgbClr val="FF0000"/>
                </a:solidFill>
                <a:latin typeface="fkGroteskNeue"/>
              </a:rPr>
              <a:t>se resuelven con una buena administración. </a:t>
            </a:r>
            <a:endParaRPr lang="es-ES" b="1" u="sng" dirty="0">
              <a:solidFill>
                <a:srgbClr val="FF0000"/>
              </a:solidFill>
            </a:endParaRPr>
          </a:p>
        </p:txBody>
      </p:sp>
    </p:spTree>
    <p:extLst>
      <p:ext uri="{BB962C8B-B14F-4D97-AF65-F5344CB8AC3E}">
        <p14:creationId xmlns:p14="http://schemas.microsoft.com/office/powerpoint/2010/main" val="1043643179"/>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Marcador de contenido 2">
            <a:extLst>
              <a:ext uri="{FF2B5EF4-FFF2-40B4-BE49-F238E27FC236}">
                <a16:creationId xmlns:a16="http://schemas.microsoft.com/office/drawing/2014/main" id="{A54DA43F-57B1-8FCC-A261-31E5622FAD0F}"/>
              </a:ext>
            </a:extLst>
          </p:cNvPr>
          <p:cNvSpPr>
            <a:spLocks noGrp="1"/>
          </p:cNvSpPr>
          <p:nvPr>
            <p:ph idx="1"/>
          </p:nvPr>
        </p:nvSpPr>
        <p:spPr>
          <a:xfrm>
            <a:off x="506361" y="1977154"/>
            <a:ext cx="11179277" cy="3698364"/>
          </a:xfrm>
        </p:spPr>
        <p:txBody>
          <a:bodyPr>
            <a:normAutofit fontScale="92500" lnSpcReduction="10000"/>
          </a:bodyPr>
          <a:lstStyle/>
          <a:p>
            <a:pPr marL="0" indent="0">
              <a:buNone/>
            </a:pPr>
            <a:r>
              <a:rPr lang="es-ES" sz="2500" b="1" u="sng" dirty="0">
                <a:solidFill>
                  <a:schemeClr val="tx2">
                    <a:lumMod val="75000"/>
                  </a:schemeClr>
                </a:solidFill>
                <a:latin typeface="Arial" panose="020B0604020202020204" pitchFamily="34" charset="0"/>
                <a:cs typeface="Arial" panose="020B0604020202020204" pitchFamily="34" charset="0"/>
              </a:rPr>
              <a:t>Problemas prácticos</a:t>
            </a:r>
          </a:p>
          <a:p>
            <a:pPr marL="0" indent="0">
              <a:buNone/>
            </a:pPr>
            <a:endParaRPr lang="es-ES" sz="2500" dirty="0">
              <a:latin typeface="Arial" panose="020B0604020202020204" pitchFamily="34" charset="0"/>
              <a:cs typeface="Arial" panose="020B0604020202020204" pitchFamily="34" charset="0"/>
            </a:endParaRPr>
          </a:p>
          <a:p>
            <a:r>
              <a:rPr lang="es-ES" sz="2500" dirty="0">
                <a:latin typeface="Arial" panose="020B0604020202020204" pitchFamily="34" charset="0"/>
                <a:cs typeface="Arial" panose="020B0604020202020204" pitchFamily="34" charset="0"/>
              </a:rPr>
              <a:t>Las infecciones hospitalarias</a:t>
            </a:r>
          </a:p>
          <a:p>
            <a:r>
              <a:rPr lang="es-ES" sz="2500" dirty="0">
                <a:latin typeface="Arial" panose="020B0604020202020204" pitchFamily="34" charset="0"/>
                <a:cs typeface="Arial" panose="020B0604020202020204" pitchFamily="34" charset="0"/>
              </a:rPr>
              <a:t>La deserción universitaria</a:t>
            </a:r>
          </a:p>
          <a:p>
            <a:endParaRPr lang="es-ES" sz="2500" dirty="0">
              <a:latin typeface="Arial" panose="020B0604020202020204" pitchFamily="34" charset="0"/>
              <a:cs typeface="Arial" panose="020B0604020202020204" pitchFamily="34" charset="0"/>
            </a:endParaRPr>
          </a:p>
          <a:p>
            <a:pPr marL="0" indent="0">
              <a:lnSpc>
                <a:spcPct val="160000"/>
              </a:lnSpc>
              <a:spcBef>
                <a:spcPts val="0"/>
              </a:spcBef>
              <a:buNone/>
            </a:pPr>
            <a:r>
              <a:rPr lang="es-ES" sz="2500" dirty="0">
                <a:latin typeface="Arial" panose="020B0604020202020204" pitchFamily="34" charset="0"/>
                <a:cs typeface="Arial" panose="020B0604020202020204" pitchFamily="34" charset="0"/>
              </a:rPr>
              <a:t> Aunque el investigador no siempre puede resolverlos directamente, puede aportar datos y análisis para que otros actores tomen decisiones informadas para solucionarlos.</a:t>
            </a:r>
          </a:p>
          <a:p>
            <a:endParaRPr lang="es-ES" sz="2500" dirty="0"/>
          </a:p>
        </p:txBody>
      </p:sp>
    </p:spTree>
    <p:extLst>
      <p:ext uri="{BB962C8B-B14F-4D97-AF65-F5344CB8AC3E}">
        <p14:creationId xmlns:p14="http://schemas.microsoft.com/office/powerpoint/2010/main" val="1908603450"/>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CuadroTexto 4">
            <a:extLst>
              <a:ext uri="{FF2B5EF4-FFF2-40B4-BE49-F238E27FC236}">
                <a16:creationId xmlns:a16="http://schemas.microsoft.com/office/drawing/2014/main" id="{24BFCEF2-9A46-F8E4-5E80-F260D4243638}"/>
              </a:ext>
            </a:extLst>
          </p:cNvPr>
          <p:cNvSpPr txBox="1"/>
          <p:nvPr/>
        </p:nvSpPr>
        <p:spPr>
          <a:xfrm>
            <a:off x="838200" y="2533776"/>
            <a:ext cx="10223090" cy="2793842"/>
          </a:xfrm>
          <a:prstGeom prst="rect">
            <a:avLst/>
          </a:prstGeom>
          <a:noFill/>
        </p:spPr>
        <p:txBody>
          <a:bodyPr wrap="square">
            <a:spAutoFit/>
          </a:bodyPr>
          <a:lstStyle/>
          <a:p>
            <a:pPr algn="l">
              <a:lnSpc>
                <a:spcPct val="150000"/>
              </a:lnSpc>
            </a:pPr>
            <a:r>
              <a:rPr lang="es-ES" sz="2400" b="0" i="0" dirty="0">
                <a:effectLst/>
                <a:latin typeface="Arial" panose="020B0604020202020204" pitchFamily="34" charset="0"/>
                <a:cs typeface="Arial" panose="020B0604020202020204" pitchFamily="34" charset="0"/>
              </a:rPr>
              <a:t>Surge cuando se detecta una laguna o vacío en el conocimiento sobre un aspecto específico relacionado con un problema práctico o teórico. Este problema se construye mediante la formulación de preguntas que requieren ser respondidas o comprobadas a través de la investigación científica. </a:t>
            </a:r>
          </a:p>
        </p:txBody>
      </p:sp>
      <p:sp>
        <p:nvSpPr>
          <p:cNvPr id="3" name="CuadroTexto 2">
            <a:extLst>
              <a:ext uri="{FF2B5EF4-FFF2-40B4-BE49-F238E27FC236}">
                <a16:creationId xmlns:a16="http://schemas.microsoft.com/office/drawing/2014/main" id="{FBB34409-C636-DCA2-E6D9-CB9E0C5CB7F3}"/>
              </a:ext>
            </a:extLst>
          </p:cNvPr>
          <p:cNvSpPr txBox="1"/>
          <p:nvPr/>
        </p:nvSpPr>
        <p:spPr>
          <a:xfrm>
            <a:off x="619432" y="1921933"/>
            <a:ext cx="9281652" cy="523220"/>
          </a:xfrm>
          <a:prstGeom prst="rect">
            <a:avLst/>
          </a:prstGeom>
          <a:noFill/>
        </p:spPr>
        <p:txBody>
          <a:bodyPr wrap="square">
            <a:spAutoFit/>
          </a:bodyPr>
          <a:lstStyle/>
          <a:p>
            <a:r>
              <a:rPr lang="es-ES" sz="2800" b="1" i="0" u="sng" dirty="0">
                <a:solidFill>
                  <a:schemeClr val="tx2">
                    <a:lumMod val="75000"/>
                  </a:schemeClr>
                </a:solidFill>
                <a:effectLst/>
                <a:latin typeface="Arial" panose="020B0604020202020204" pitchFamily="34" charset="0"/>
                <a:cs typeface="Arial" panose="020B0604020202020204" pitchFamily="34" charset="0"/>
              </a:rPr>
              <a:t>Problema científico (o problema de investigación): </a:t>
            </a:r>
            <a:endParaRPr lang="es-ES" sz="2800" b="1" u="sng" dirty="0">
              <a:solidFill>
                <a:schemeClr val="tx2">
                  <a:lumMod val="75000"/>
                </a:schemeClr>
              </a:solidFill>
            </a:endParaRPr>
          </a:p>
        </p:txBody>
      </p:sp>
    </p:spTree>
    <p:extLst>
      <p:ext uri="{BB962C8B-B14F-4D97-AF65-F5344CB8AC3E}">
        <p14:creationId xmlns:p14="http://schemas.microsoft.com/office/powerpoint/2010/main" val="1316995543"/>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Marcador de contenido 2">
            <a:extLst>
              <a:ext uri="{FF2B5EF4-FFF2-40B4-BE49-F238E27FC236}">
                <a16:creationId xmlns:a16="http://schemas.microsoft.com/office/drawing/2014/main" id="{AD8D46A3-199C-5200-EC61-6503189E490F}"/>
              </a:ext>
            </a:extLst>
          </p:cNvPr>
          <p:cNvSpPr>
            <a:spLocks noGrp="1"/>
          </p:cNvSpPr>
          <p:nvPr>
            <p:ph idx="1"/>
          </p:nvPr>
        </p:nvSpPr>
        <p:spPr>
          <a:xfrm>
            <a:off x="315861" y="1973109"/>
            <a:ext cx="11560278" cy="4351338"/>
          </a:xfrm>
        </p:spPr>
        <p:txBody>
          <a:bodyPr/>
          <a:lstStyle/>
          <a:p>
            <a:endParaRPr lang="es-ES" dirty="0">
              <a:latin typeface="Arial" panose="020B0604020202020204" pitchFamily="34" charset="0"/>
              <a:cs typeface="Arial" panose="020B0604020202020204" pitchFamily="34" charset="0"/>
            </a:endParaRPr>
          </a:p>
          <a:p>
            <a:endParaRPr lang="es-ES" dirty="0">
              <a:latin typeface="Arial" panose="020B0604020202020204" pitchFamily="34" charset="0"/>
              <a:cs typeface="Arial" panose="020B0604020202020204" pitchFamily="34" charset="0"/>
            </a:endParaRPr>
          </a:p>
          <a:p>
            <a:pPr marL="0" indent="0" algn="just">
              <a:lnSpc>
                <a:spcPct val="150000"/>
              </a:lnSpc>
              <a:spcBef>
                <a:spcPts val="0"/>
              </a:spcBef>
              <a:buNone/>
            </a:pPr>
            <a:r>
              <a:rPr lang="es-ES" dirty="0">
                <a:latin typeface="Arial" panose="020B0604020202020204" pitchFamily="34" charset="0"/>
                <a:cs typeface="Arial" panose="020B0604020202020204" pitchFamily="34" charset="0"/>
              </a:rPr>
              <a:t>Su </a:t>
            </a:r>
            <a:r>
              <a:rPr lang="es-ES" dirty="0">
                <a:solidFill>
                  <a:srgbClr val="FF0000"/>
                </a:solidFill>
                <a:latin typeface="Arial" panose="020B0604020202020204" pitchFamily="34" charset="0"/>
                <a:cs typeface="Arial" panose="020B0604020202020204" pitchFamily="34" charset="0"/>
              </a:rPr>
              <a:t>objetivo </a:t>
            </a:r>
            <a:r>
              <a:rPr lang="es-ES" dirty="0">
                <a:latin typeface="Arial" panose="020B0604020202020204" pitchFamily="34" charset="0"/>
                <a:cs typeface="Arial" panose="020B0604020202020204" pitchFamily="34" charset="0"/>
              </a:rPr>
              <a:t>es aportar conocimiento nuevo y comprender mejor un fenómeno. El problema científico es una cuestión cognoscitiva que el investigador puede abordar metodológicamente para encontrar respuestas que contribuyan al avance del saber.</a:t>
            </a:r>
          </a:p>
          <a:p>
            <a:endParaRPr lang="es-ES" dirty="0"/>
          </a:p>
        </p:txBody>
      </p:sp>
      <p:sp>
        <p:nvSpPr>
          <p:cNvPr id="2" name="CuadroTexto 1">
            <a:extLst>
              <a:ext uri="{FF2B5EF4-FFF2-40B4-BE49-F238E27FC236}">
                <a16:creationId xmlns:a16="http://schemas.microsoft.com/office/drawing/2014/main" id="{B37D64F9-3D1B-2013-E3F2-13C62019BD96}"/>
              </a:ext>
            </a:extLst>
          </p:cNvPr>
          <p:cNvSpPr txBox="1"/>
          <p:nvPr/>
        </p:nvSpPr>
        <p:spPr>
          <a:xfrm>
            <a:off x="570271" y="2178813"/>
            <a:ext cx="9281652" cy="523220"/>
          </a:xfrm>
          <a:prstGeom prst="rect">
            <a:avLst/>
          </a:prstGeom>
          <a:noFill/>
        </p:spPr>
        <p:txBody>
          <a:bodyPr wrap="square">
            <a:spAutoFit/>
          </a:bodyPr>
          <a:lstStyle/>
          <a:p>
            <a:r>
              <a:rPr lang="es-ES" sz="2800" b="1" i="0" u="sng" dirty="0">
                <a:solidFill>
                  <a:schemeClr val="tx2">
                    <a:lumMod val="75000"/>
                  </a:schemeClr>
                </a:solidFill>
                <a:effectLst/>
                <a:latin typeface="Arial" panose="020B0604020202020204" pitchFamily="34" charset="0"/>
                <a:cs typeface="Arial" panose="020B0604020202020204" pitchFamily="34" charset="0"/>
              </a:rPr>
              <a:t>Problema científico (o problema de investigación): </a:t>
            </a:r>
            <a:endParaRPr lang="es-ES" sz="2800" b="1" u="sng" dirty="0">
              <a:solidFill>
                <a:schemeClr val="tx2">
                  <a:lumMod val="75000"/>
                </a:schemeClr>
              </a:solidFill>
            </a:endParaRPr>
          </a:p>
        </p:txBody>
      </p:sp>
    </p:spTree>
    <p:extLst>
      <p:ext uri="{BB962C8B-B14F-4D97-AF65-F5344CB8AC3E}">
        <p14:creationId xmlns:p14="http://schemas.microsoft.com/office/powerpoint/2010/main" val="2878671665"/>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Marcador de contenido 2">
            <a:extLst>
              <a:ext uri="{FF2B5EF4-FFF2-40B4-BE49-F238E27FC236}">
                <a16:creationId xmlns:a16="http://schemas.microsoft.com/office/drawing/2014/main" id="{0B69A3BD-0992-3678-012C-B84822CF23F5}"/>
              </a:ext>
            </a:extLst>
          </p:cNvPr>
          <p:cNvSpPr>
            <a:spLocks noGrp="1"/>
          </p:cNvSpPr>
          <p:nvPr>
            <p:ph idx="1"/>
          </p:nvPr>
        </p:nvSpPr>
        <p:spPr>
          <a:xfrm>
            <a:off x="527652" y="1826007"/>
            <a:ext cx="10515600" cy="4351338"/>
          </a:xfrm>
        </p:spPr>
        <p:txBody>
          <a:bodyPr>
            <a:normAutofit fontScale="25000" lnSpcReduction="20000"/>
          </a:bodyPr>
          <a:lstStyle/>
          <a:p>
            <a:pPr marL="0" indent="0">
              <a:buNone/>
            </a:pPr>
            <a:r>
              <a:rPr lang="es-ES" sz="9600" b="1" u="sng" dirty="0">
                <a:solidFill>
                  <a:schemeClr val="tx2">
                    <a:lumMod val="75000"/>
                  </a:schemeClr>
                </a:solidFill>
                <a:latin typeface="Arial" panose="020B0604020202020204" pitchFamily="34" charset="0"/>
                <a:cs typeface="Arial" panose="020B0604020202020204" pitchFamily="34" charset="0"/>
              </a:rPr>
              <a:t>Condiciones que debe reunir un problema de investigación</a:t>
            </a:r>
          </a:p>
          <a:p>
            <a:endParaRPr lang="es-ES" sz="9600" dirty="0">
              <a:latin typeface="Arial" panose="020B0604020202020204" pitchFamily="34" charset="0"/>
              <a:cs typeface="Arial" panose="020B0604020202020204" pitchFamily="34" charset="0"/>
            </a:endParaRPr>
          </a:p>
          <a:p>
            <a:pPr marL="0" indent="0">
              <a:buNone/>
            </a:pPr>
            <a:r>
              <a:rPr lang="es-ES" sz="9600" dirty="0">
                <a:latin typeface="Arial" panose="020B0604020202020204" pitchFamily="34" charset="0"/>
                <a:cs typeface="Arial" panose="020B0604020202020204" pitchFamily="34" charset="0"/>
              </a:rPr>
              <a:t>La respuesta a la pregunta debe aportar un nuevo conocimiento.</a:t>
            </a:r>
          </a:p>
          <a:p>
            <a:pPr marL="0" indent="0">
              <a:buNone/>
            </a:pPr>
            <a:endParaRPr lang="es-ES" sz="9600" dirty="0">
              <a:latin typeface="Arial" panose="020B0604020202020204" pitchFamily="34" charset="0"/>
              <a:cs typeface="Arial" panose="020B0604020202020204" pitchFamily="34" charset="0"/>
            </a:endParaRPr>
          </a:p>
          <a:p>
            <a:pPr marL="0" indent="0">
              <a:buNone/>
            </a:pPr>
            <a:r>
              <a:rPr lang="es-ES" sz="9600" dirty="0">
                <a:latin typeface="Arial" panose="020B0604020202020204" pitchFamily="34" charset="0"/>
                <a:cs typeface="Arial" panose="020B0604020202020204" pitchFamily="34" charset="0"/>
              </a:rPr>
              <a:t>Debe referirse al comportamiento de una variable. </a:t>
            </a:r>
          </a:p>
          <a:p>
            <a:pPr marL="0" indent="0">
              <a:buNone/>
            </a:pPr>
            <a:endParaRPr lang="es-ES" sz="9600" dirty="0">
              <a:latin typeface="Arial" panose="020B0604020202020204" pitchFamily="34" charset="0"/>
              <a:cs typeface="Arial" panose="020B0604020202020204" pitchFamily="34" charset="0"/>
            </a:endParaRPr>
          </a:p>
          <a:p>
            <a:pPr marL="0" indent="0">
              <a:buNone/>
            </a:pPr>
            <a:r>
              <a:rPr lang="es-ES" sz="9600" dirty="0">
                <a:latin typeface="Arial" panose="020B0604020202020204" pitchFamily="34" charset="0"/>
                <a:cs typeface="Arial" panose="020B0604020202020204" pitchFamily="34" charset="0"/>
              </a:rPr>
              <a:t>Debe implicar una relación entre </a:t>
            </a:r>
            <a:r>
              <a:rPr lang="es-ES" sz="9600" b="1" u="sng" dirty="0">
                <a:solidFill>
                  <a:srgbClr val="FF0000"/>
                </a:solidFill>
                <a:latin typeface="Arial" panose="020B0604020202020204" pitchFamily="34" charset="0"/>
                <a:cs typeface="Arial" panose="020B0604020202020204" pitchFamily="34" charset="0"/>
              </a:rPr>
              <a:t>Objeto y Campo</a:t>
            </a:r>
          </a:p>
          <a:p>
            <a:pPr marL="0" indent="0">
              <a:buNone/>
            </a:pPr>
            <a:endParaRPr lang="es-ES" sz="9600" dirty="0">
              <a:latin typeface="Arial" panose="020B0604020202020204" pitchFamily="34" charset="0"/>
              <a:cs typeface="Arial" panose="020B0604020202020204" pitchFamily="34" charset="0"/>
            </a:endParaRPr>
          </a:p>
          <a:p>
            <a:pPr marL="0" indent="0">
              <a:lnSpc>
                <a:spcPct val="170000"/>
              </a:lnSpc>
              <a:spcBef>
                <a:spcPts val="0"/>
              </a:spcBef>
              <a:buNone/>
            </a:pPr>
            <a:r>
              <a:rPr lang="es-ES" sz="9600" dirty="0">
                <a:latin typeface="Arial" panose="020B0604020202020204" pitchFamily="34" charset="0"/>
                <a:cs typeface="Arial" panose="020B0604020202020204" pitchFamily="34" charset="0"/>
              </a:rPr>
              <a:t>Se recomienda formularlo de manera interrogativa puede ser también de manera objetiva </a:t>
            </a:r>
          </a:p>
          <a:p>
            <a:endParaRPr lang="es-ES" dirty="0"/>
          </a:p>
        </p:txBody>
      </p:sp>
    </p:spTree>
    <p:extLst>
      <p:ext uri="{BB962C8B-B14F-4D97-AF65-F5344CB8AC3E}">
        <p14:creationId xmlns:p14="http://schemas.microsoft.com/office/powerpoint/2010/main" val="118534273"/>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Marcador de contenido 2">
            <a:extLst>
              <a:ext uri="{FF2B5EF4-FFF2-40B4-BE49-F238E27FC236}">
                <a16:creationId xmlns:a16="http://schemas.microsoft.com/office/drawing/2014/main" id="{F0D6F868-07DB-26CF-BF24-0812740C2714}"/>
              </a:ext>
            </a:extLst>
          </p:cNvPr>
          <p:cNvSpPr>
            <a:spLocks noGrp="1"/>
          </p:cNvSpPr>
          <p:nvPr>
            <p:ph idx="1"/>
          </p:nvPr>
        </p:nvSpPr>
        <p:spPr>
          <a:xfrm>
            <a:off x="838200" y="2491915"/>
            <a:ext cx="10515600" cy="2677549"/>
          </a:xfrm>
        </p:spPr>
        <p:txBody>
          <a:bodyPr/>
          <a:lstStyle/>
          <a:p>
            <a:endParaRPr lang="es-ES" dirty="0">
              <a:latin typeface="Arial" panose="020B0604020202020204" pitchFamily="34" charset="0"/>
              <a:cs typeface="Arial" panose="020B0604020202020204" pitchFamily="34" charset="0"/>
            </a:endParaRPr>
          </a:p>
          <a:p>
            <a:pPr marL="0" indent="0" algn="just">
              <a:lnSpc>
                <a:spcPct val="150000"/>
              </a:lnSpc>
              <a:spcBef>
                <a:spcPts val="0"/>
              </a:spcBef>
              <a:buNone/>
            </a:pPr>
            <a:r>
              <a:rPr lang="es-ES" dirty="0">
                <a:latin typeface="Arial" panose="020B0604020202020204" pitchFamily="34" charset="0"/>
                <a:cs typeface="Arial" panose="020B0604020202020204" pitchFamily="34" charset="0"/>
              </a:rPr>
              <a:t>La pregunta-problema no debe originar respuestas como un simple </a:t>
            </a:r>
            <a:r>
              <a:rPr lang="es-ES" b="1" dirty="0">
                <a:solidFill>
                  <a:srgbClr val="FF0000"/>
                </a:solidFill>
                <a:latin typeface="Arial" panose="020B0604020202020204" pitchFamily="34" charset="0"/>
                <a:cs typeface="Arial" panose="020B0604020202020204" pitchFamily="34" charset="0"/>
              </a:rPr>
              <a:t>si o no</a:t>
            </a:r>
            <a:r>
              <a:rPr lang="es-ES" dirty="0">
                <a:latin typeface="Arial" panose="020B0604020202020204" pitchFamily="34" charset="0"/>
                <a:cs typeface="Arial" panose="020B0604020202020204" pitchFamily="34" charset="0"/>
              </a:rPr>
              <a:t>. De ocurrir esto, la interrogante deberá ser reformulada.</a:t>
            </a:r>
          </a:p>
          <a:p>
            <a:pPr marL="0" indent="0" algn="just">
              <a:lnSpc>
                <a:spcPct val="150000"/>
              </a:lnSpc>
              <a:spcBef>
                <a:spcPts val="0"/>
              </a:spcBef>
              <a:buNone/>
            </a:pPr>
            <a:endParaRPr lang="es-ES" dirty="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4131970492"/>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Marcador de contenido 2">
            <a:extLst>
              <a:ext uri="{FF2B5EF4-FFF2-40B4-BE49-F238E27FC236}">
                <a16:creationId xmlns:a16="http://schemas.microsoft.com/office/drawing/2014/main" id="{8A0ED0F8-F6E3-B835-F2F8-8E6DDDAD6466}"/>
              </a:ext>
            </a:extLst>
          </p:cNvPr>
          <p:cNvSpPr>
            <a:spLocks noGrp="1"/>
          </p:cNvSpPr>
          <p:nvPr>
            <p:ph idx="1"/>
          </p:nvPr>
        </p:nvSpPr>
        <p:spPr>
          <a:xfrm>
            <a:off x="582613" y="2171700"/>
            <a:ext cx="10515600" cy="4351338"/>
          </a:xfrm>
        </p:spPr>
        <p:txBody>
          <a:bodyPr>
            <a:normAutofit/>
          </a:bodyPr>
          <a:lstStyle/>
          <a:p>
            <a:pPr marL="0" indent="0">
              <a:buNone/>
            </a:pPr>
            <a:r>
              <a:rPr lang="es-ES" dirty="0"/>
              <a:t>El planteamiento del problema es una de las partes fundamentales de una investigación, ya que establece el marco y la dirección del estudio.</a:t>
            </a:r>
          </a:p>
          <a:p>
            <a:pPr marL="0" indent="0">
              <a:buNone/>
            </a:pPr>
            <a:r>
              <a:rPr lang="es-ES" dirty="0"/>
              <a:t> </a:t>
            </a:r>
            <a:r>
              <a:rPr lang="es-ES" b="1" dirty="0">
                <a:solidFill>
                  <a:srgbClr val="FF0000"/>
                </a:solidFill>
              </a:rPr>
              <a:t>Se compone de cuatro elementos principales</a:t>
            </a:r>
            <a:r>
              <a:rPr lang="es-ES" dirty="0"/>
              <a:t>:</a:t>
            </a:r>
          </a:p>
          <a:p>
            <a:pPr marL="514350" indent="-514350">
              <a:buFont typeface="+mj-lt"/>
              <a:buAutoNum type="arabicPeriod"/>
            </a:pPr>
            <a:r>
              <a:rPr lang="es-ES" dirty="0"/>
              <a:t>Preguntas de investigación</a:t>
            </a:r>
          </a:p>
          <a:p>
            <a:pPr marL="514350" indent="-514350">
              <a:buFont typeface="+mj-lt"/>
              <a:buAutoNum type="arabicPeriod"/>
            </a:pPr>
            <a:r>
              <a:rPr lang="es-ES" dirty="0"/>
              <a:t>Objetivos de investigación</a:t>
            </a:r>
          </a:p>
          <a:p>
            <a:pPr marL="514350" indent="-514350">
              <a:buFont typeface="+mj-lt"/>
              <a:buAutoNum type="arabicPeriod"/>
            </a:pPr>
            <a:r>
              <a:rPr lang="es-ES" dirty="0"/>
              <a:t>Justificación del estudio</a:t>
            </a:r>
          </a:p>
          <a:p>
            <a:pPr marL="514350" indent="-514350">
              <a:buFont typeface="+mj-lt"/>
              <a:buAutoNum type="arabicPeriod"/>
            </a:pPr>
            <a:r>
              <a:rPr lang="es-ES" dirty="0"/>
              <a:t>Limitaciones y delimitaciones (común complemento)</a:t>
            </a:r>
            <a:br>
              <a:rPr lang="es-ES" dirty="0"/>
            </a:br>
            <a:endParaRPr lang="es-ES" dirty="0"/>
          </a:p>
        </p:txBody>
      </p:sp>
    </p:spTree>
    <p:extLst>
      <p:ext uri="{BB962C8B-B14F-4D97-AF65-F5344CB8AC3E}">
        <p14:creationId xmlns:p14="http://schemas.microsoft.com/office/powerpoint/2010/main" val="2452299102"/>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CuadroTexto 3">
            <a:extLst>
              <a:ext uri="{FF2B5EF4-FFF2-40B4-BE49-F238E27FC236}">
                <a16:creationId xmlns:a16="http://schemas.microsoft.com/office/drawing/2014/main" id="{088E5FD0-33B8-1904-7656-EC3767F8D56E}"/>
              </a:ext>
            </a:extLst>
          </p:cNvPr>
          <p:cNvSpPr txBox="1"/>
          <p:nvPr/>
        </p:nvSpPr>
        <p:spPr>
          <a:xfrm>
            <a:off x="827692" y="2651760"/>
            <a:ext cx="9555828" cy="1384995"/>
          </a:xfrm>
          <a:prstGeom prst="rect">
            <a:avLst/>
          </a:prstGeom>
          <a:noFill/>
        </p:spPr>
        <p:txBody>
          <a:bodyPr wrap="square" rtlCol="0">
            <a:spAutoFit/>
          </a:bodyPr>
          <a:lstStyle/>
          <a:p>
            <a:pPr algn="ctr"/>
            <a:r>
              <a:rPr lang="es-ES" sz="2800" b="1" dirty="0">
                <a:latin typeface="Arial" panose="020B0604020202020204" pitchFamily="34" charset="0"/>
                <a:cs typeface="Arial" panose="020B0604020202020204" pitchFamily="34" charset="0"/>
              </a:rPr>
              <a:t>Diagrama de flujo para mantener un rigor lógico</a:t>
            </a:r>
          </a:p>
          <a:p>
            <a:pPr algn="ctr"/>
            <a:endParaRPr lang="es-ES" sz="2800" b="1" dirty="0">
              <a:latin typeface="Arial" panose="020B0604020202020204" pitchFamily="34" charset="0"/>
              <a:cs typeface="Arial" panose="020B0604020202020204" pitchFamily="34" charset="0"/>
            </a:endParaRPr>
          </a:p>
          <a:p>
            <a:pPr algn="ctr"/>
            <a:r>
              <a:rPr lang="es-ES" sz="2800" b="1" dirty="0">
                <a:latin typeface="Arial" panose="020B0604020202020204" pitchFamily="34" charset="0"/>
                <a:cs typeface="Arial" panose="020B0604020202020204" pitchFamily="34" charset="0"/>
              </a:rPr>
              <a:t> en la formulación del problema científico </a:t>
            </a:r>
          </a:p>
        </p:txBody>
      </p:sp>
    </p:spTree>
    <p:extLst>
      <p:ext uri="{BB962C8B-B14F-4D97-AF65-F5344CB8AC3E}">
        <p14:creationId xmlns:p14="http://schemas.microsoft.com/office/powerpoint/2010/main" val="819433183"/>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Imagen 4">
            <a:extLst>
              <a:ext uri="{FF2B5EF4-FFF2-40B4-BE49-F238E27FC236}">
                <a16:creationId xmlns:a16="http://schemas.microsoft.com/office/drawing/2014/main" id="{A0F9F56B-D9AE-F5A1-BC84-D3DBF3AAF695}"/>
              </a:ext>
            </a:extLst>
          </p:cNvPr>
          <p:cNvPicPr>
            <a:picLocks noChangeAspect="1"/>
          </p:cNvPicPr>
          <p:nvPr/>
        </p:nvPicPr>
        <p:blipFill>
          <a:blip r:embed="rId2"/>
          <a:stretch>
            <a:fillRect/>
          </a:stretch>
        </p:blipFill>
        <p:spPr>
          <a:xfrm>
            <a:off x="0" y="0"/>
            <a:ext cx="12192000" cy="6858000"/>
          </a:xfrm>
          <a:prstGeom prst="rect">
            <a:avLst/>
          </a:prstGeom>
        </p:spPr>
      </p:pic>
      <p:sp>
        <p:nvSpPr>
          <p:cNvPr id="7" name="CuadroTexto 6">
            <a:extLst>
              <a:ext uri="{FF2B5EF4-FFF2-40B4-BE49-F238E27FC236}">
                <a16:creationId xmlns:a16="http://schemas.microsoft.com/office/drawing/2014/main" id="{97D49E9B-17DC-7612-DC6F-0DDEDDE73FCD}"/>
              </a:ext>
            </a:extLst>
          </p:cNvPr>
          <p:cNvSpPr txBox="1"/>
          <p:nvPr/>
        </p:nvSpPr>
        <p:spPr>
          <a:xfrm>
            <a:off x="4968240" y="2062480"/>
            <a:ext cx="3068320" cy="646331"/>
          </a:xfrm>
          <a:prstGeom prst="rect">
            <a:avLst/>
          </a:prstGeom>
          <a:solidFill>
            <a:schemeClr val="accent2">
              <a:lumMod val="20000"/>
              <a:lumOff val="80000"/>
            </a:schemeClr>
          </a:solidFill>
        </p:spPr>
        <p:txBody>
          <a:bodyPr wrap="square" rtlCol="0">
            <a:spAutoFit/>
          </a:bodyPr>
          <a:lstStyle/>
          <a:p>
            <a:r>
              <a:rPr lang="es-ES" dirty="0"/>
              <a:t>PROBLEMA CIENTIFICO</a:t>
            </a:r>
          </a:p>
          <a:p>
            <a:endParaRPr lang="es-ES" dirty="0"/>
          </a:p>
        </p:txBody>
      </p:sp>
    </p:spTree>
    <p:extLst>
      <p:ext uri="{BB962C8B-B14F-4D97-AF65-F5344CB8AC3E}">
        <p14:creationId xmlns:p14="http://schemas.microsoft.com/office/powerpoint/2010/main" val="1413374335"/>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Marcador de contenido 2">
            <a:extLst>
              <a:ext uri="{FF2B5EF4-FFF2-40B4-BE49-F238E27FC236}">
                <a16:creationId xmlns:a16="http://schemas.microsoft.com/office/drawing/2014/main" id="{5D45EBFE-45F0-AB6A-96AE-6D3CF488D9AA}"/>
              </a:ext>
            </a:extLst>
          </p:cNvPr>
          <p:cNvSpPr>
            <a:spLocks noGrp="1"/>
          </p:cNvSpPr>
          <p:nvPr>
            <p:ph idx="1"/>
          </p:nvPr>
        </p:nvSpPr>
        <p:spPr>
          <a:xfrm>
            <a:off x="174522" y="2150644"/>
            <a:ext cx="11098162" cy="4168877"/>
          </a:xfrm>
        </p:spPr>
        <p:txBody>
          <a:bodyPr>
            <a:normAutofit/>
          </a:bodyPr>
          <a:lstStyle/>
          <a:p>
            <a:r>
              <a:rPr lang="es-ES" b="1" dirty="0"/>
              <a:t>1. PREGUNTA DE INVESTIGACIÓN  </a:t>
            </a:r>
            <a:r>
              <a:rPr lang="es-ES" b="1" dirty="0">
                <a:solidFill>
                  <a:srgbClr val="FF0000"/>
                </a:solidFill>
              </a:rPr>
              <a:t>(A SU NIVEL, MEJOR PROBLEMA)</a:t>
            </a:r>
          </a:p>
          <a:p>
            <a:r>
              <a:rPr lang="es-ES" b="1" dirty="0"/>
              <a:t>Definición</a:t>
            </a:r>
            <a:r>
              <a:rPr lang="es-ES" dirty="0"/>
              <a:t>: Interrogante central que guían el estudio.</a:t>
            </a:r>
          </a:p>
          <a:p>
            <a:pPr marL="0" indent="0">
              <a:buNone/>
            </a:pPr>
            <a:br>
              <a:rPr lang="es-ES" dirty="0"/>
            </a:br>
            <a:r>
              <a:rPr lang="es-ES" b="1" dirty="0"/>
              <a:t>Características</a:t>
            </a:r>
            <a:r>
              <a:rPr lang="es-ES" dirty="0"/>
              <a:t>:</a:t>
            </a:r>
          </a:p>
          <a:p>
            <a:r>
              <a:rPr lang="es-ES" dirty="0"/>
              <a:t>✓ </a:t>
            </a:r>
            <a:r>
              <a:rPr lang="es-ES" b="1" dirty="0"/>
              <a:t>Precisas y concretas</a:t>
            </a:r>
            <a:r>
              <a:rPr lang="es-ES" dirty="0"/>
              <a:t>: Evitan ambigüedades</a:t>
            </a:r>
          </a:p>
          <a:p>
            <a:r>
              <a:rPr lang="es-ES" dirty="0"/>
              <a:t>✓ </a:t>
            </a:r>
            <a:r>
              <a:rPr lang="es-ES" b="1" dirty="0"/>
              <a:t>Medibles</a:t>
            </a:r>
            <a:r>
              <a:rPr lang="es-ES" dirty="0"/>
              <a:t>: Permiten verificación empírica</a:t>
            </a:r>
          </a:p>
          <a:p>
            <a:r>
              <a:rPr lang="es-ES" dirty="0"/>
              <a:t>✓ </a:t>
            </a:r>
            <a:r>
              <a:rPr lang="es-ES" b="1" dirty="0"/>
              <a:t>Relevantes</a:t>
            </a:r>
            <a:r>
              <a:rPr lang="es-ES" dirty="0"/>
              <a:t>: Conectadas con el problema central</a:t>
            </a:r>
          </a:p>
          <a:p>
            <a:r>
              <a:rPr lang="es-ES" dirty="0"/>
              <a:t>✓ </a:t>
            </a:r>
            <a:r>
              <a:rPr lang="es-ES" b="1" dirty="0"/>
              <a:t>Factibles</a:t>
            </a:r>
            <a:r>
              <a:rPr lang="es-ES" dirty="0"/>
              <a:t>: Posibles de responder dentro del estudio</a:t>
            </a:r>
          </a:p>
          <a:p>
            <a:endParaRPr lang="es-ES" dirty="0"/>
          </a:p>
          <a:p>
            <a:endParaRPr lang="es-ES" dirty="0"/>
          </a:p>
        </p:txBody>
      </p:sp>
    </p:spTree>
    <p:extLst>
      <p:ext uri="{BB962C8B-B14F-4D97-AF65-F5344CB8AC3E}">
        <p14:creationId xmlns:p14="http://schemas.microsoft.com/office/powerpoint/2010/main" val="2637584250"/>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Marcador de contenido 2">
            <a:extLst>
              <a:ext uri="{FF2B5EF4-FFF2-40B4-BE49-F238E27FC236}">
                <a16:creationId xmlns:a16="http://schemas.microsoft.com/office/drawing/2014/main" id="{B904B2A8-0469-3945-247D-FE19521DF4C0}"/>
              </a:ext>
            </a:extLst>
          </p:cNvPr>
          <p:cNvSpPr>
            <a:spLocks noGrp="1"/>
          </p:cNvSpPr>
          <p:nvPr>
            <p:ph idx="1"/>
          </p:nvPr>
        </p:nvSpPr>
        <p:spPr>
          <a:xfrm>
            <a:off x="452284" y="1825625"/>
            <a:ext cx="11493910" cy="4351338"/>
          </a:xfrm>
        </p:spPr>
        <p:txBody>
          <a:bodyPr/>
          <a:lstStyle/>
          <a:p>
            <a:pPr marL="0" indent="0">
              <a:buNone/>
            </a:pPr>
            <a:r>
              <a:rPr lang="es-ES" b="1" dirty="0"/>
              <a:t>  Ejemplo</a:t>
            </a:r>
            <a:r>
              <a:rPr lang="es-ES" dirty="0"/>
              <a:t>:</a:t>
            </a:r>
          </a:p>
          <a:p>
            <a:pPr marL="0" indent="0" algn="ctr">
              <a:buNone/>
            </a:pPr>
            <a:r>
              <a:rPr lang="es-ES" dirty="0"/>
              <a:t>                                                     </a:t>
            </a:r>
            <a:br>
              <a:rPr lang="es-ES" dirty="0"/>
            </a:br>
            <a:r>
              <a:rPr lang="es-ES" i="1" dirty="0"/>
              <a:t>¿Cómo afecta </a:t>
            </a:r>
            <a:r>
              <a:rPr lang="es-ES" b="1" i="1" dirty="0">
                <a:solidFill>
                  <a:srgbClr val="FF0000"/>
                </a:solidFill>
              </a:rPr>
              <a:t>la aplicación de morfina transoperatoria </a:t>
            </a:r>
            <a:r>
              <a:rPr lang="es-ES" i="1" dirty="0"/>
              <a:t>las</a:t>
            </a:r>
          </a:p>
          <a:p>
            <a:pPr marL="0" indent="0" algn="ctr">
              <a:buNone/>
            </a:pPr>
            <a:r>
              <a:rPr lang="es-ES" i="1" dirty="0"/>
              <a:t> </a:t>
            </a:r>
            <a:r>
              <a:rPr lang="es-ES" b="1" i="1" dirty="0">
                <a:solidFill>
                  <a:srgbClr val="002060"/>
                </a:solidFill>
              </a:rPr>
              <a:t>complicaciones  postoperatorias inmediatas </a:t>
            </a:r>
            <a:r>
              <a:rPr lang="es-ES" i="1" dirty="0"/>
              <a:t>?</a:t>
            </a:r>
          </a:p>
          <a:p>
            <a:pPr marL="0" indent="0">
              <a:buNone/>
            </a:pPr>
            <a:endParaRPr lang="es-ES" i="1" dirty="0"/>
          </a:p>
          <a:p>
            <a:pPr marL="0" indent="0" algn="ctr">
              <a:buNone/>
            </a:pPr>
            <a:r>
              <a:rPr lang="es-ES" i="1" dirty="0"/>
              <a:t>¿Cómo disminuir el </a:t>
            </a:r>
            <a:r>
              <a:rPr lang="es-ES" b="1" i="1" dirty="0">
                <a:solidFill>
                  <a:srgbClr val="FF0000"/>
                </a:solidFill>
              </a:rPr>
              <a:t>índice de  reingreso </a:t>
            </a:r>
            <a:r>
              <a:rPr lang="es-ES" b="1" i="1" dirty="0"/>
              <a:t>en</a:t>
            </a:r>
            <a:r>
              <a:rPr lang="es-ES" b="1" i="1" dirty="0">
                <a:solidFill>
                  <a:srgbClr val="FF0000"/>
                </a:solidFill>
              </a:rPr>
              <a:t> </a:t>
            </a:r>
            <a:r>
              <a:rPr lang="es-ES" b="1" i="1" dirty="0">
                <a:solidFill>
                  <a:srgbClr val="002060"/>
                </a:solidFill>
              </a:rPr>
              <a:t>pacientes diabéticos?</a:t>
            </a:r>
            <a:endParaRPr lang="es-ES" dirty="0"/>
          </a:p>
        </p:txBody>
      </p:sp>
    </p:spTree>
    <p:extLst>
      <p:ext uri="{BB962C8B-B14F-4D97-AF65-F5344CB8AC3E}">
        <p14:creationId xmlns:p14="http://schemas.microsoft.com/office/powerpoint/2010/main" val="1859718110"/>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Marcador de contenido 9">
            <a:extLst>
              <a:ext uri="{FF2B5EF4-FFF2-40B4-BE49-F238E27FC236}">
                <a16:creationId xmlns:a16="http://schemas.microsoft.com/office/drawing/2014/main" id="{3FDE1092-C453-C83B-DEAC-AA1DE430DB52}"/>
              </a:ext>
            </a:extLst>
          </p:cNvPr>
          <p:cNvSpPr>
            <a:spLocks noGrp="1"/>
          </p:cNvSpPr>
          <p:nvPr>
            <p:ph idx="1"/>
          </p:nvPr>
        </p:nvSpPr>
        <p:spPr>
          <a:xfrm>
            <a:off x="523567" y="2687371"/>
            <a:ext cx="10515600" cy="2782530"/>
          </a:xfrm>
        </p:spPr>
        <p:txBody>
          <a:bodyPr>
            <a:normAutofit/>
          </a:bodyPr>
          <a:lstStyle/>
          <a:p>
            <a:pPr>
              <a:lnSpc>
                <a:spcPct val="150000"/>
              </a:lnSpc>
              <a:spcBef>
                <a:spcPts val="0"/>
              </a:spcBef>
            </a:pPr>
            <a:r>
              <a:rPr lang="es-ES" b="1" u="sng" dirty="0">
                <a:solidFill>
                  <a:schemeClr val="accent1">
                    <a:lumMod val="50000"/>
                  </a:schemeClr>
                </a:solidFill>
              </a:rPr>
              <a:t>Objetivos de investigación</a:t>
            </a:r>
            <a:br>
              <a:rPr lang="es-ES" dirty="0"/>
            </a:br>
            <a:r>
              <a:rPr lang="es-ES" dirty="0"/>
              <a:t>Aquí se expresa qué se pretende lograr con el estudio. Los objetivos especifican las metas concretas a alcanzar y pueden ser generales y específicos.</a:t>
            </a:r>
          </a:p>
          <a:p>
            <a:endParaRPr lang="es-ES" dirty="0"/>
          </a:p>
        </p:txBody>
      </p:sp>
    </p:spTree>
    <p:extLst>
      <p:ext uri="{BB962C8B-B14F-4D97-AF65-F5344CB8AC3E}">
        <p14:creationId xmlns:p14="http://schemas.microsoft.com/office/powerpoint/2010/main" val="3790861978"/>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Marcador de contenido 2">
            <a:extLst>
              <a:ext uri="{FF2B5EF4-FFF2-40B4-BE49-F238E27FC236}">
                <a16:creationId xmlns:a16="http://schemas.microsoft.com/office/drawing/2014/main" id="{99CFDD70-C7B6-1044-E585-72475430DF41}"/>
              </a:ext>
            </a:extLst>
          </p:cNvPr>
          <p:cNvSpPr>
            <a:spLocks noGrp="1"/>
          </p:cNvSpPr>
          <p:nvPr>
            <p:ph idx="1"/>
          </p:nvPr>
        </p:nvSpPr>
        <p:spPr>
          <a:xfrm>
            <a:off x="609992" y="2187558"/>
            <a:ext cx="10515600" cy="4134584"/>
          </a:xfrm>
        </p:spPr>
        <p:txBody>
          <a:bodyPr>
            <a:normAutofit/>
          </a:bodyPr>
          <a:lstStyle/>
          <a:p>
            <a:pPr marL="0" indent="0">
              <a:buNone/>
            </a:pPr>
            <a:r>
              <a:rPr lang="es-ES" b="1" u="sng" dirty="0">
                <a:solidFill>
                  <a:schemeClr val="accent1">
                    <a:lumMod val="50000"/>
                  </a:schemeClr>
                </a:solidFill>
                <a:latin typeface="Arial" panose="020B0604020202020204" pitchFamily="34" charset="0"/>
                <a:cs typeface="Arial" panose="020B0604020202020204" pitchFamily="34" charset="0"/>
              </a:rPr>
              <a:t>Justificación del estudio</a:t>
            </a:r>
          </a:p>
          <a:p>
            <a:pPr marL="0" indent="0">
              <a:lnSpc>
                <a:spcPct val="150000"/>
              </a:lnSpc>
              <a:spcBef>
                <a:spcPts val="0"/>
              </a:spcBef>
              <a:buNone/>
            </a:pPr>
            <a:br>
              <a:rPr lang="es-ES" dirty="0"/>
            </a:br>
            <a:r>
              <a:rPr lang="es-ES" dirty="0">
                <a:latin typeface="Arial" panose="020B0604020202020204" pitchFamily="34" charset="0"/>
                <a:cs typeface="Arial" panose="020B0604020202020204" pitchFamily="34" charset="0"/>
              </a:rPr>
              <a:t>La justificación es el argumento que explica la importancia y la relevancia del estudio. Indica por qué es necesario investigar el problema, destacando su pertinencia social, científica, educativa o práctica.</a:t>
            </a:r>
          </a:p>
          <a:p>
            <a:endParaRPr lang="es-ES" dirty="0"/>
          </a:p>
        </p:txBody>
      </p:sp>
    </p:spTree>
    <p:extLst>
      <p:ext uri="{BB962C8B-B14F-4D97-AF65-F5344CB8AC3E}">
        <p14:creationId xmlns:p14="http://schemas.microsoft.com/office/powerpoint/2010/main" val="1671912017"/>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Marcador de contenido 2">
            <a:extLst>
              <a:ext uri="{FF2B5EF4-FFF2-40B4-BE49-F238E27FC236}">
                <a16:creationId xmlns:a16="http://schemas.microsoft.com/office/drawing/2014/main" id="{A4EEC8F9-F8FB-CAD8-47CB-FEBE4B2BF60D}"/>
              </a:ext>
            </a:extLst>
          </p:cNvPr>
          <p:cNvSpPr>
            <a:spLocks noGrp="1"/>
          </p:cNvSpPr>
          <p:nvPr>
            <p:ph idx="1"/>
          </p:nvPr>
        </p:nvSpPr>
        <p:spPr>
          <a:xfrm>
            <a:off x="436354" y="2810192"/>
            <a:ext cx="11412795" cy="2446253"/>
          </a:xfrm>
        </p:spPr>
        <p:txBody>
          <a:bodyPr/>
          <a:lstStyle/>
          <a:p>
            <a:pPr marL="0" indent="0">
              <a:lnSpc>
                <a:spcPct val="150000"/>
              </a:lnSpc>
              <a:spcBef>
                <a:spcPts val="0"/>
              </a:spcBef>
              <a:buNone/>
            </a:pPr>
            <a:r>
              <a:rPr lang="es-ES" dirty="0"/>
              <a:t>Expone los beneficios directos o indirectos que se esperan obtener, como aportar al conocimiento, resolver un problema social, influir en políticas públicas, o mejorar procesos. </a:t>
            </a:r>
          </a:p>
        </p:txBody>
      </p:sp>
      <p:grpSp>
        <p:nvGrpSpPr>
          <p:cNvPr id="5" name="Grupo 4">
            <a:extLst>
              <a:ext uri="{FF2B5EF4-FFF2-40B4-BE49-F238E27FC236}">
                <a16:creationId xmlns:a16="http://schemas.microsoft.com/office/drawing/2014/main" id="{BAC3739F-6DC0-4D83-A9B9-030E520001F4}"/>
              </a:ext>
            </a:extLst>
          </p:cNvPr>
          <p:cNvGrpSpPr/>
          <p:nvPr/>
        </p:nvGrpSpPr>
        <p:grpSpPr>
          <a:xfrm>
            <a:off x="10146498" y="774123"/>
            <a:ext cx="1435510" cy="1505115"/>
            <a:chOff x="9842243" y="1929343"/>
            <a:chExt cx="2143125" cy="2143125"/>
          </a:xfrm>
        </p:grpSpPr>
        <p:pic>
          <p:nvPicPr>
            <p:cNvPr id="6" name="Picture 3" descr="Metodología de la Investigación - Tesis">
              <a:extLst>
                <a:ext uri="{FF2B5EF4-FFF2-40B4-BE49-F238E27FC236}">
                  <a16:creationId xmlns:a16="http://schemas.microsoft.com/office/drawing/2014/main" id="{7223BC52-3794-8FCD-51F0-CCDA9CA9D54A}"/>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9842243" y="1929343"/>
              <a:ext cx="2143125" cy="2143125"/>
            </a:xfrm>
            <a:prstGeom prst="rect">
              <a:avLst/>
            </a:prstGeom>
            <a:noFill/>
            <a:extLst>
              <a:ext uri="{909E8E84-426E-40DD-AFC4-6F175D3DCCD1}">
                <a14:hiddenFill xmlns:a14="http://schemas.microsoft.com/office/drawing/2010/main">
                  <a:solidFill>
                    <a:srgbClr val="FFFFFF"/>
                  </a:solidFill>
                </a14:hiddenFill>
              </a:ext>
            </a:extLst>
          </p:spPr>
        </p:pic>
        <p:sp>
          <p:nvSpPr>
            <p:cNvPr id="7" name="Rectángulo 6">
              <a:extLst>
                <a:ext uri="{FF2B5EF4-FFF2-40B4-BE49-F238E27FC236}">
                  <a16:creationId xmlns:a16="http://schemas.microsoft.com/office/drawing/2014/main" id="{CCCC8F5E-67E3-6B2B-D63E-9ED2EDB30A40}"/>
                </a:ext>
              </a:extLst>
            </p:cNvPr>
            <p:cNvSpPr/>
            <p:nvPr/>
          </p:nvSpPr>
          <p:spPr>
            <a:xfrm>
              <a:off x="10658168" y="3510116"/>
              <a:ext cx="511277" cy="226142"/>
            </a:xfrm>
            <a:prstGeom prst="rect">
              <a:avLst/>
            </a:prstGeom>
            <a:solidFill>
              <a:schemeClr val="bg1"/>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ES"/>
            </a:p>
          </p:txBody>
        </p:sp>
      </p:grpSp>
    </p:spTree>
    <p:extLst>
      <p:ext uri="{BB962C8B-B14F-4D97-AF65-F5344CB8AC3E}">
        <p14:creationId xmlns:p14="http://schemas.microsoft.com/office/powerpoint/2010/main" val="1679783549"/>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2CA1777-4CEB-A4EB-C91F-838C919BD35C}"/>
            </a:ext>
          </a:extLst>
        </p:cNvPr>
        <p:cNvGrpSpPr/>
        <p:nvPr/>
      </p:nvGrpSpPr>
      <p:grpSpPr>
        <a:xfrm>
          <a:off x="0" y="0"/>
          <a:ext cx="0" cy="0"/>
          <a:chOff x="0" y="0"/>
          <a:chExt cx="0" cy="0"/>
        </a:xfrm>
      </p:grpSpPr>
      <p:sp>
        <p:nvSpPr>
          <p:cNvPr id="3" name="Marcador de contenido 2">
            <a:extLst>
              <a:ext uri="{FF2B5EF4-FFF2-40B4-BE49-F238E27FC236}">
                <a16:creationId xmlns:a16="http://schemas.microsoft.com/office/drawing/2014/main" id="{B6F55BA1-7484-8B76-F57F-3AE2C540EA74}"/>
              </a:ext>
            </a:extLst>
          </p:cNvPr>
          <p:cNvSpPr>
            <a:spLocks noGrp="1"/>
          </p:cNvSpPr>
          <p:nvPr>
            <p:ph idx="1"/>
          </p:nvPr>
        </p:nvSpPr>
        <p:spPr>
          <a:xfrm>
            <a:off x="389602" y="2810192"/>
            <a:ext cx="11412795" cy="2655801"/>
          </a:xfrm>
        </p:spPr>
        <p:txBody>
          <a:bodyPr/>
          <a:lstStyle/>
          <a:p>
            <a:pPr marL="0" indent="0">
              <a:lnSpc>
                <a:spcPct val="150000"/>
              </a:lnSpc>
              <a:spcBef>
                <a:spcPts val="0"/>
              </a:spcBef>
              <a:buNone/>
            </a:pPr>
            <a:r>
              <a:rPr lang="es-ES" dirty="0"/>
              <a:t>La justificación </a:t>
            </a:r>
            <a:r>
              <a:rPr lang="es-ES" b="1" dirty="0">
                <a:solidFill>
                  <a:srgbClr val="FF0000"/>
                </a:solidFill>
              </a:rPr>
              <a:t>se incluye en la introducción, pero solo pinceladas</a:t>
            </a:r>
            <a:r>
              <a:rPr lang="es-ES" dirty="0"/>
              <a:t>, puede incluir antecedentes que señalen vacíos, limitaciones o controversias previas que justifican la necesidad de esta nueva investigación.</a:t>
            </a:r>
          </a:p>
          <a:p>
            <a:pPr marL="0" indent="0">
              <a:lnSpc>
                <a:spcPct val="150000"/>
              </a:lnSpc>
              <a:spcBef>
                <a:spcPts val="0"/>
              </a:spcBef>
              <a:buNone/>
            </a:pPr>
            <a:r>
              <a:rPr lang="es-ES" dirty="0"/>
              <a:t>El resto va en el </a:t>
            </a:r>
            <a:r>
              <a:rPr lang="es-ES" b="1" dirty="0">
                <a:solidFill>
                  <a:srgbClr val="FF0000"/>
                </a:solidFill>
              </a:rPr>
              <a:t>marco teórico</a:t>
            </a:r>
            <a:r>
              <a:rPr lang="es-ES" dirty="0"/>
              <a:t>. </a:t>
            </a:r>
          </a:p>
          <a:p>
            <a:endParaRPr lang="es-ES" dirty="0"/>
          </a:p>
        </p:txBody>
      </p:sp>
      <p:grpSp>
        <p:nvGrpSpPr>
          <p:cNvPr id="5" name="Grupo 4">
            <a:extLst>
              <a:ext uri="{FF2B5EF4-FFF2-40B4-BE49-F238E27FC236}">
                <a16:creationId xmlns:a16="http://schemas.microsoft.com/office/drawing/2014/main" id="{12D6E43D-C2B4-56CE-BB96-8DD6FB4F7203}"/>
              </a:ext>
            </a:extLst>
          </p:cNvPr>
          <p:cNvGrpSpPr/>
          <p:nvPr/>
        </p:nvGrpSpPr>
        <p:grpSpPr>
          <a:xfrm>
            <a:off x="10146498" y="774123"/>
            <a:ext cx="1435510" cy="1505115"/>
            <a:chOff x="9842243" y="1929343"/>
            <a:chExt cx="2143125" cy="2143125"/>
          </a:xfrm>
        </p:grpSpPr>
        <p:pic>
          <p:nvPicPr>
            <p:cNvPr id="6" name="Picture 3" descr="Metodología de la Investigación - Tesis">
              <a:extLst>
                <a:ext uri="{FF2B5EF4-FFF2-40B4-BE49-F238E27FC236}">
                  <a16:creationId xmlns:a16="http://schemas.microsoft.com/office/drawing/2014/main" id="{9678690C-336A-46D6-93A1-E113A8D0889E}"/>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9842243" y="1929343"/>
              <a:ext cx="2143125" cy="2143125"/>
            </a:xfrm>
            <a:prstGeom prst="rect">
              <a:avLst/>
            </a:prstGeom>
            <a:noFill/>
            <a:extLst>
              <a:ext uri="{909E8E84-426E-40DD-AFC4-6F175D3DCCD1}">
                <a14:hiddenFill xmlns:a14="http://schemas.microsoft.com/office/drawing/2010/main">
                  <a:solidFill>
                    <a:srgbClr val="FFFFFF"/>
                  </a:solidFill>
                </a14:hiddenFill>
              </a:ext>
            </a:extLst>
          </p:spPr>
        </p:pic>
        <p:sp>
          <p:nvSpPr>
            <p:cNvPr id="7" name="Rectángulo 6">
              <a:extLst>
                <a:ext uri="{FF2B5EF4-FFF2-40B4-BE49-F238E27FC236}">
                  <a16:creationId xmlns:a16="http://schemas.microsoft.com/office/drawing/2014/main" id="{7B5137DD-AAE9-742D-0F44-69A0F2A18D87}"/>
                </a:ext>
              </a:extLst>
            </p:cNvPr>
            <p:cNvSpPr/>
            <p:nvPr/>
          </p:nvSpPr>
          <p:spPr>
            <a:xfrm>
              <a:off x="10658168" y="3510116"/>
              <a:ext cx="511277" cy="226142"/>
            </a:xfrm>
            <a:prstGeom prst="rect">
              <a:avLst/>
            </a:prstGeom>
            <a:solidFill>
              <a:schemeClr val="bg1"/>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ES"/>
            </a:p>
          </p:txBody>
        </p:sp>
      </p:grpSp>
    </p:spTree>
    <p:extLst>
      <p:ext uri="{BB962C8B-B14F-4D97-AF65-F5344CB8AC3E}">
        <p14:creationId xmlns:p14="http://schemas.microsoft.com/office/powerpoint/2010/main" val="1556792941"/>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Marcador de contenido 2">
            <a:extLst>
              <a:ext uri="{FF2B5EF4-FFF2-40B4-BE49-F238E27FC236}">
                <a16:creationId xmlns:a16="http://schemas.microsoft.com/office/drawing/2014/main" id="{77253FAD-7906-083A-9B42-03347FBA7693}"/>
              </a:ext>
            </a:extLst>
          </p:cNvPr>
          <p:cNvSpPr>
            <a:spLocks noGrp="1"/>
          </p:cNvSpPr>
          <p:nvPr>
            <p:ph idx="1"/>
          </p:nvPr>
        </p:nvSpPr>
        <p:spPr>
          <a:xfrm>
            <a:off x="538480" y="1825625"/>
            <a:ext cx="10815320" cy="4351338"/>
          </a:xfrm>
        </p:spPr>
        <p:txBody>
          <a:bodyPr/>
          <a:lstStyle/>
          <a:p>
            <a:pPr marL="0" indent="0" algn="ctr">
              <a:buNone/>
            </a:pPr>
            <a:r>
              <a:rPr lang="es-ES" i="1" dirty="0"/>
              <a:t>¿Cómo afecta </a:t>
            </a:r>
            <a:r>
              <a:rPr lang="es-ES" b="1" i="1" u="sng" dirty="0">
                <a:solidFill>
                  <a:srgbClr val="FF0000"/>
                </a:solidFill>
              </a:rPr>
              <a:t>la aplicación de morfina transoperatoria</a:t>
            </a:r>
            <a:r>
              <a:rPr lang="es-ES" i="1" u="sng" dirty="0"/>
              <a:t> </a:t>
            </a:r>
            <a:r>
              <a:rPr lang="es-ES" i="1" dirty="0"/>
              <a:t>las</a:t>
            </a:r>
          </a:p>
          <a:p>
            <a:pPr marL="0" indent="0" algn="ctr">
              <a:buNone/>
            </a:pPr>
            <a:r>
              <a:rPr lang="es-ES" i="1" dirty="0"/>
              <a:t> </a:t>
            </a:r>
            <a:r>
              <a:rPr lang="es-ES" b="1" i="1" u="sng" dirty="0">
                <a:solidFill>
                  <a:srgbClr val="002060"/>
                </a:solidFill>
              </a:rPr>
              <a:t>complicaciones  postoperatorias inmediatas </a:t>
            </a:r>
            <a:r>
              <a:rPr lang="es-ES" i="1" dirty="0"/>
              <a:t>?</a:t>
            </a:r>
          </a:p>
          <a:p>
            <a:pPr marL="0" indent="0" algn="ctr">
              <a:buNone/>
            </a:pPr>
            <a:endParaRPr lang="es-ES" i="1" dirty="0"/>
          </a:p>
          <a:p>
            <a:pPr marL="0" indent="0">
              <a:buNone/>
            </a:pPr>
            <a:r>
              <a:rPr lang="es-ES" dirty="0"/>
              <a:t>                                                      </a:t>
            </a:r>
            <a:r>
              <a:rPr lang="es-ES" b="1" dirty="0"/>
              <a:t>Justificación </a:t>
            </a:r>
          </a:p>
          <a:p>
            <a:pPr marL="0" indent="0" algn="just">
              <a:buNone/>
            </a:pPr>
            <a:r>
              <a:rPr lang="es-ES" dirty="0">
                <a:latin typeface="Arial" panose="020B0604020202020204" pitchFamily="34" charset="0"/>
                <a:cs typeface="Arial" panose="020B0604020202020204" pitchFamily="34" charset="0"/>
              </a:rPr>
              <a:t>En el último año se reporta un aumento del número de complicaciones postoperatorias en los operados que se aplica morfina transoperatoria , hasta el momento se desconocen las causas y su índice va en aumento a pesar de diferentes políticas administrativas aplicadas.</a:t>
            </a:r>
          </a:p>
        </p:txBody>
      </p:sp>
    </p:spTree>
    <p:extLst>
      <p:ext uri="{BB962C8B-B14F-4D97-AF65-F5344CB8AC3E}">
        <p14:creationId xmlns:p14="http://schemas.microsoft.com/office/powerpoint/2010/main" val="2693684744"/>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C2A806C-E76D-2AF0-C241-26B89DE826AE}"/>
            </a:ext>
          </a:extLst>
        </p:cNvPr>
        <p:cNvGrpSpPr/>
        <p:nvPr/>
      </p:nvGrpSpPr>
      <p:grpSpPr>
        <a:xfrm>
          <a:off x="0" y="0"/>
          <a:ext cx="0" cy="0"/>
          <a:chOff x="0" y="0"/>
          <a:chExt cx="0" cy="0"/>
        </a:xfrm>
      </p:grpSpPr>
      <p:sp>
        <p:nvSpPr>
          <p:cNvPr id="3" name="Marcador de contenido 2">
            <a:extLst>
              <a:ext uri="{FF2B5EF4-FFF2-40B4-BE49-F238E27FC236}">
                <a16:creationId xmlns:a16="http://schemas.microsoft.com/office/drawing/2014/main" id="{CC8639F9-CFFA-5631-FFAA-0935928E1481}"/>
              </a:ext>
            </a:extLst>
          </p:cNvPr>
          <p:cNvSpPr>
            <a:spLocks noGrp="1"/>
          </p:cNvSpPr>
          <p:nvPr>
            <p:ph idx="1"/>
          </p:nvPr>
        </p:nvSpPr>
        <p:spPr>
          <a:xfrm>
            <a:off x="243840" y="1734184"/>
            <a:ext cx="10815320" cy="4605655"/>
          </a:xfrm>
        </p:spPr>
        <p:txBody>
          <a:bodyPr>
            <a:normAutofit fontScale="92500"/>
          </a:bodyPr>
          <a:lstStyle/>
          <a:p>
            <a:pPr marL="0" indent="0">
              <a:buNone/>
            </a:pPr>
            <a:r>
              <a:rPr lang="es-ES" dirty="0"/>
              <a:t>                                                      </a:t>
            </a:r>
            <a:r>
              <a:rPr lang="es-ES" b="1" dirty="0">
                <a:latin typeface="Arial" panose="020B0604020202020204" pitchFamily="34" charset="0"/>
                <a:cs typeface="Arial" panose="020B0604020202020204" pitchFamily="34" charset="0"/>
              </a:rPr>
              <a:t>Justificación </a:t>
            </a:r>
          </a:p>
          <a:p>
            <a:pPr marL="0" indent="0" algn="just">
              <a:buNone/>
            </a:pPr>
            <a:r>
              <a:rPr lang="es-ES" dirty="0">
                <a:latin typeface="Arial" panose="020B0604020202020204" pitchFamily="34" charset="0"/>
                <a:cs typeface="Arial" panose="020B0604020202020204" pitchFamily="34" charset="0"/>
              </a:rPr>
              <a:t>En el ultimo año se reporta un aumento del número de complicaciones postoperatorias en los operados que se aplica morfina transoperatoria , hasta el momento se desconocen las causas y su índice va en aumento a pesar de diferentes políticas administrativas aplicadas.</a:t>
            </a:r>
          </a:p>
          <a:p>
            <a:pPr marL="0" indent="0" algn="just">
              <a:buNone/>
            </a:pPr>
            <a:endParaRPr lang="es-ES" dirty="0">
              <a:latin typeface="Arial" panose="020B0604020202020204" pitchFamily="34" charset="0"/>
              <a:cs typeface="Arial" panose="020B0604020202020204" pitchFamily="34" charset="0"/>
            </a:endParaRPr>
          </a:p>
          <a:p>
            <a:pPr marL="0" indent="0" algn="ctr">
              <a:buNone/>
            </a:pPr>
            <a:r>
              <a:rPr lang="es-ES" b="1" dirty="0">
                <a:latin typeface="Arial" panose="020B0604020202020204" pitchFamily="34" charset="0"/>
                <a:cs typeface="Arial" panose="020B0604020202020204" pitchFamily="34" charset="0"/>
              </a:rPr>
              <a:t>Novedad</a:t>
            </a:r>
          </a:p>
          <a:p>
            <a:pPr marL="0" indent="0" algn="ctr">
              <a:buNone/>
            </a:pPr>
            <a:r>
              <a:rPr lang="es-ES" dirty="0">
                <a:latin typeface="Arial" panose="020B0604020202020204" pitchFamily="34" charset="0"/>
                <a:cs typeface="Arial" panose="020B0604020202020204" pitchFamily="34" charset="0"/>
              </a:rPr>
              <a:t>A pesar que existen investigaciones internacionales que explican la ocurrencia del fenómeno hasta el momento no se han realizado en el centro donde labora el investigador estudios que muestren las posibles causas.</a:t>
            </a:r>
          </a:p>
        </p:txBody>
      </p:sp>
    </p:spTree>
    <p:extLst>
      <p:ext uri="{BB962C8B-B14F-4D97-AF65-F5344CB8AC3E}">
        <p14:creationId xmlns:p14="http://schemas.microsoft.com/office/powerpoint/2010/main" val="404435839"/>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Marcador de contenido 2">
            <a:extLst>
              <a:ext uri="{FF2B5EF4-FFF2-40B4-BE49-F238E27FC236}">
                <a16:creationId xmlns:a16="http://schemas.microsoft.com/office/drawing/2014/main" id="{39383D26-08FF-7031-A55A-78380CCBFF00}"/>
              </a:ext>
            </a:extLst>
          </p:cNvPr>
          <p:cNvSpPr>
            <a:spLocks noGrp="1"/>
          </p:cNvSpPr>
          <p:nvPr>
            <p:ph idx="1"/>
          </p:nvPr>
        </p:nvSpPr>
        <p:spPr>
          <a:xfrm>
            <a:off x="609992" y="2147716"/>
            <a:ext cx="10515600" cy="4378611"/>
          </a:xfrm>
        </p:spPr>
        <p:txBody>
          <a:bodyPr>
            <a:normAutofit/>
          </a:bodyPr>
          <a:lstStyle/>
          <a:p>
            <a:pPr marL="0" indent="0">
              <a:buNone/>
            </a:pPr>
            <a:r>
              <a:rPr lang="es-ES" b="1" u="sng" dirty="0">
                <a:solidFill>
                  <a:schemeClr val="accent1">
                    <a:lumMod val="50000"/>
                  </a:schemeClr>
                </a:solidFill>
              </a:rPr>
              <a:t>Limitaciones y delimitaciones </a:t>
            </a:r>
          </a:p>
          <a:p>
            <a:pPr marL="0" indent="0">
              <a:buNone/>
            </a:pPr>
            <a:endParaRPr lang="es-ES" b="1" u="sng" dirty="0">
              <a:solidFill>
                <a:schemeClr val="accent1">
                  <a:lumMod val="50000"/>
                </a:schemeClr>
              </a:solidFill>
            </a:endParaRPr>
          </a:p>
          <a:p>
            <a:pPr marL="0" indent="0" algn="just">
              <a:lnSpc>
                <a:spcPct val="160000"/>
              </a:lnSpc>
              <a:spcBef>
                <a:spcPts val="0"/>
              </a:spcBef>
              <a:buNone/>
            </a:pPr>
            <a:r>
              <a:rPr lang="es-ES" sz="2400" dirty="0">
                <a:latin typeface="Arial" panose="020B0604020202020204" pitchFamily="34" charset="0"/>
                <a:cs typeface="Arial" panose="020B0604020202020204" pitchFamily="34" charset="0"/>
              </a:rPr>
              <a:t>Las limitaciones son las posibles debilidades o problemas que podrían influir en los resultados; las delimitaciones son las fronteras que el investigador define para acotar el estudio. Se ponen al final de la introducción. </a:t>
            </a:r>
          </a:p>
        </p:txBody>
      </p:sp>
      <p:grpSp>
        <p:nvGrpSpPr>
          <p:cNvPr id="5" name="Grupo 4">
            <a:extLst>
              <a:ext uri="{FF2B5EF4-FFF2-40B4-BE49-F238E27FC236}">
                <a16:creationId xmlns:a16="http://schemas.microsoft.com/office/drawing/2014/main" id="{EE128F20-47AA-3411-6D2C-3D5A8F5B0F22}"/>
              </a:ext>
            </a:extLst>
          </p:cNvPr>
          <p:cNvGrpSpPr/>
          <p:nvPr/>
        </p:nvGrpSpPr>
        <p:grpSpPr>
          <a:xfrm>
            <a:off x="10146498" y="774123"/>
            <a:ext cx="1435510" cy="1505115"/>
            <a:chOff x="9842243" y="1929343"/>
            <a:chExt cx="2143125" cy="2143125"/>
          </a:xfrm>
        </p:grpSpPr>
        <p:pic>
          <p:nvPicPr>
            <p:cNvPr id="6" name="Picture 3" descr="Metodología de la Investigación - Tesis">
              <a:extLst>
                <a:ext uri="{FF2B5EF4-FFF2-40B4-BE49-F238E27FC236}">
                  <a16:creationId xmlns:a16="http://schemas.microsoft.com/office/drawing/2014/main" id="{BF71F1DF-08A0-DE2B-2797-6075491515D5}"/>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9842243" y="1929343"/>
              <a:ext cx="2143125" cy="2143125"/>
            </a:xfrm>
            <a:prstGeom prst="rect">
              <a:avLst/>
            </a:prstGeom>
            <a:noFill/>
            <a:extLst>
              <a:ext uri="{909E8E84-426E-40DD-AFC4-6F175D3DCCD1}">
                <a14:hiddenFill xmlns:a14="http://schemas.microsoft.com/office/drawing/2010/main">
                  <a:solidFill>
                    <a:srgbClr val="FFFFFF"/>
                  </a:solidFill>
                </a14:hiddenFill>
              </a:ext>
            </a:extLst>
          </p:spPr>
        </p:pic>
        <p:sp>
          <p:nvSpPr>
            <p:cNvPr id="7" name="Rectángulo 6">
              <a:extLst>
                <a:ext uri="{FF2B5EF4-FFF2-40B4-BE49-F238E27FC236}">
                  <a16:creationId xmlns:a16="http://schemas.microsoft.com/office/drawing/2014/main" id="{ABDEF411-1EF1-9037-9019-640580A80BBD}"/>
                </a:ext>
              </a:extLst>
            </p:cNvPr>
            <p:cNvSpPr/>
            <p:nvPr/>
          </p:nvSpPr>
          <p:spPr>
            <a:xfrm>
              <a:off x="10658168" y="3510116"/>
              <a:ext cx="511277" cy="226142"/>
            </a:xfrm>
            <a:prstGeom prst="rect">
              <a:avLst/>
            </a:prstGeom>
            <a:solidFill>
              <a:schemeClr val="bg1"/>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ES"/>
            </a:p>
          </p:txBody>
        </p:sp>
      </p:grpSp>
    </p:spTree>
    <p:extLst>
      <p:ext uri="{BB962C8B-B14F-4D97-AF65-F5344CB8AC3E}">
        <p14:creationId xmlns:p14="http://schemas.microsoft.com/office/powerpoint/2010/main" val="3340607476"/>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5" name="Grupo 4">
            <a:extLst>
              <a:ext uri="{FF2B5EF4-FFF2-40B4-BE49-F238E27FC236}">
                <a16:creationId xmlns:a16="http://schemas.microsoft.com/office/drawing/2014/main" id="{37C2056E-08D6-6E88-56F7-546DA71EF8F1}"/>
              </a:ext>
            </a:extLst>
          </p:cNvPr>
          <p:cNvGrpSpPr/>
          <p:nvPr/>
        </p:nvGrpSpPr>
        <p:grpSpPr>
          <a:xfrm>
            <a:off x="10146498" y="774123"/>
            <a:ext cx="1435510" cy="1505115"/>
            <a:chOff x="9842243" y="1929343"/>
            <a:chExt cx="2143125" cy="2143125"/>
          </a:xfrm>
        </p:grpSpPr>
        <p:pic>
          <p:nvPicPr>
            <p:cNvPr id="6" name="Picture 3" descr="Metodología de la Investigación - Tesis">
              <a:extLst>
                <a:ext uri="{FF2B5EF4-FFF2-40B4-BE49-F238E27FC236}">
                  <a16:creationId xmlns:a16="http://schemas.microsoft.com/office/drawing/2014/main" id="{0D0A33E6-454C-A909-32FA-134A8F78821B}"/>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9842243" y="1929343"/>
              <a:ext cx="2143125" cy="2143125"/>
            </a:xfrm>
            <a:prstGeom prst="rect">
              <a:avLst/>
            </a:prstGeom>
            <a:noFill/>
            <a:extLst>
              <a:ext uri="{909E8E84-426E-40DD-AFC4-6F175D3DCCD1}">
                <a14:hiddenFill xmlns:a14="http://schemas.microsoft.com/office/drawing/2010/main">
                  <a:solidFill>
                    <a:srgbClr val="FFFFFF"/>
                  </a:solidFill>
                </a14:hiddenFill>
              </a:ext>
            </a:extLst>
          </p:spPr>
        </p:pic>
        <p:sp>
          <p:nvSpPr>
            <p:cNvPr id="7" name="Rectángulo 6">
              <a:extLst>
                <a:ext uri="{FF2B5EF4-FFF2-40B4-BE49-F238E27FC236}">
                  <a16:creationId xmlns:a16="http://schemas.microsoft.com/office/drawing/2014/main" id="{BD4E4860-4F31-4B26-6E8D-78D14C186BBC}"/>
                </a:ext>
              </a:extLst>
            </p:cNvPr>
            <p:cNvSpPr/>
            <p:nvPr/>
          </p:nvSpPr>
          <p:spPr>
            <a:xfrm>
              <a:off x="10658168" y="3510116"/>
              <a:ext cx="511277" cy="226142"/>
            </a:xfrm>
            <a:prstGeom prst="rect">
              <a:avLst/>
            </a:prstGeom>
            <a:solidFill>
              <a:schemeClr val="bg1"/>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ES"/>
            </a:p>
          </p:txBody>
        </p:sp>
      </p:grpSp>
      <p:sp>
        <p:nvSpPr>
          <p:cNvPr id="9" name="CuadroTexto 8">
            <a:extLst>
              <a:ext uri="{FF2B5EF4-FFF2-40B4-BE49-F238E27FC236}">
                <a16:creationId xmlns:a16="http://schemas.microsoft.com/office/drawing/2014/main" id="{8AD0C902-82EE-05F9-CC3B-99A1BA50D81A}"/>
              </a:ext>
            </a:extLst>
          </p:cNvPr>
          <p:cNvSpPr txBox="1"/>
          <p:nvPr/>
        </p:nvSpPr>
        <p:spPr>
          <a:xfrm>
            <a:off x="609992" y="2303467"/>
            <a:ext cx="7800914" cy="2970685"/>
          </a:xfrm>
          <a:prstGeom prst="rect">
            <a:avLst/>
          </a:prstGeom>
          <a:noFill/>
        </p:spPr>
        <p:txBody>
          <a:bodyPr wrap="square" rtlCol="0">
            <a:spAutoFit/>
          </a:bodyPr>
          <a:lstStyle/>
          <a:p>
            <a:pPr marL="457200" indent="-457200">
              <a:lnSpc>
                <a:spcPct val="150000"/>
              </a:lnSpc>
              <a:buFont typeface="+mj-lt"/>
              <a:buAutoNum type="arabicPeriod"/>
            </a:pPr>
            <a:r>
              <a:rPr lang="es-ES" sz="3200" b="1" dirty="0"/>
              <a:t>Hipótesis de investigación.</a:t>
            </a:r>
          </a:p>
          <a:p>
            <a:pPr marL="457200" indent="-457200">
              <a:lnSpc>
                <a:spcPct val="150000"/>
              </a:lnSpc>
              <a:buFont typeface="+mj-lt"/>
              <a:buAutoNum type="arabicPeriod"/>
            </a:pPr>
            <a:r>
              <a:rPr lang="es-ES" sz="3200" b="1" dirty="0"/>
              <a:t>Principios de demarcación.</a:t>
            </a:r>
          </a:p>
          <a:p>
            <a:pPr marL="457200" indent="-457200">
              <a:lnSpc>
                <a:spcPct val="150000"/>
              </a:lnSpc>
              <a:buFont typeface="+mj-lt"/>
              <a:buAutoNum type="arabicPeriod"/>
            </a:pPr>
            <a:r>
              <a:rPr lang="es-ES" sz="3200" b="1" dirty="0"/>
              <a:t>Hipótesis científicas.</a:t>
            </a:r>
          </a:p>
          <a:p>
            <a:pPr marL="457200" indent="-457200">
              <a:lnSpc>
                <a:spcPct val="150000"/>
              </a:lnSpc>
              <a:buFont typeface="+mj-lt"/>
              <a:buAutoNum type="arabicPeriod"/>
            </a:pPr>
            <a:r>
              <a:rPr lang="es-ES" sz="3200" b="1" dirty="0"/>
              <a:t>Requisitos de su formulación.</a:t>
            </a:r>
          </a:p>
        </p:txBody>
      </p:sp>
      <p:pic>
        <p:nvPicPr>
          <p:cNvPr id="10" name="Picture 2" descr="conceptos metodologia de la investigación | Flashcards">
            <a:extLst>
              <a:ext uri="{FF2B5EF4-FFF2-40B4-BE49-F238E27FC236}">
                <a16:creationId xmlns:a16="http://schemas.microsoft.com/office/drawing/2014/main" id="{61E6AF2E-8A4D-C1BD-0B4D-6505C628D914}"/>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505599" y="3383680"/>
            <a:ext cx="3640899" cy="2476347"/>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284935365"/>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Marcador de contenido 2">
            <a:extLst>
              <a:ext uri="{FF2B5EF4-FFF2-40B4-BE49-F238E27FC236}">
                <a16:creationId xmlns:a16="http://schemas.microsoft.com/office/drawing/2014/main" id="{6217574E-B58B-7F7E-C080-5608B5D58845}"/>
              </a:ext>
            </a:extLst>
          </p:cNvPr>
          <p:cNvSpPr>
            <a:spLocks noGrp="1"/>
          </p:cNvSpPr>
          <p:nvPr>
            <p:ph idx="1"/>
          </p:nvPr>
        </p:nvSpPr>
        <p:spPr>
          <a:xfrm>
            <a:off x="363794" y="3221806"/>
            <a:ext cx="11611897" cy="2225265"/>
          </a:xfrm>
        </p:spPr>
        <p:txBody>
          <a:bodyPr/>
          <a:lstStyle/>
          <a:p>
            <a:pPr marL="0" indent="0" algn="ctr">
              <a:lnSpc>
                <a:spcPct val="150000"/>
              </a:lnSpc>
              <a:spcBef>
                <a:spcPts val="0"/>
              </a:spcBef>
              <a:buNone/>
            </a:pPr>
            <a:r>
              <a:rPr lang="es-ES" dirty="0"/>
              <a:t>…la formulación precisa del problema, permite enunciar las posibles hipótesis o respuestas que serán verificadas para solucionar adecuadamente dicho problema, mediante la aplicación del proceso investigativo</a:t>
            </a:r>
          </a:p>
        </p:txBody>
      </p:sp>
      <p:sp>
        <p:nvSpPr>
          <p:cNvPr id="7" name="CuadroTexto 6">
            <a:extLst>
              <a:ext uri="{FF2B5EF4-FFF2-40B4-BE49-F238E27FC236}">
                <a16:creationId xmlns:a16="http://schemas.microsoft.com/office/drawing/2014/main" id="{3446E428-DF49-D2EB-E4BA-B901AA014491}"/>
              </a:ext>
            </a:extLst>
          </p:cNvPr>
          <p:cNvSpPr txBox="1"/>
          <p:nvPr/>
        </p:nvSpPr>
        <p:spPr>
          <a:xfrm>
            <a:off x="1519083" y="1984091"/>
            <a:ext cx="6440128" cy="671851"/>
          </a:xfrm>
          <a:prstGeom prst="rect">
            <a:avLst/>
          </a:prstGeom>
          <a:noFill/>
        </p:spPr>
        <p:txBody>
          <a:bodyPr wrap="square">
            <a:spAutoFit/>
          </a:bodyPr>
          <a:lstStyle/>
          <a:p>
            <a:pPr marR="0" lvl="0" algn="l" defTabSz="914400" rtl="0" eaLnBrk="1" fontAlgn="auto" latinLnBrk="0" hangingPunct="1">
              <a:lnSpc>
                <a:spcPct val="150000"/>
              </a:lnSpc>
              <a:spcBef>
                <a:spcPts val="0"/>
              </a:spcBef>
              <a:spcAft>
                <a:spcPts val="0"/>
              </a:spcAft>
              <a:buClrTx/>
              <a:buSzTx/>
              <a:tabLst/>
              <a:defRPr/>
            </a:pPr>
            <a:r>
              <a:rPr kumimoji="0" lang="es-ES" sz="2800" b="1" i="0" u="none" strike="noStrike" kern="1200" cap="none" spc="0" normalizeH="0" baseline="0" noProof="0" dirty="0">
                <a:ln>
                  <a:noFill/>
                </a:ln>
                <a:solidFill>
                  <a:prstClr val="black"/>
                </a:solidFill>
                <a:effectLst/>
                <a:uLnTx/>
                <a:uFillTx/>
                <a:latin typeface="Arial" panose="020B0604020202020204" pitchFamily="34" charset="0"/>
                <a:cs typeface="Arial" panose="020B0604020202020204" pitchFamily="34" charset="0"/>
              </a:rPr>
              <a:t>Hipótesis de investigación</a:t>
            </a:r>
            <a:r>
              <a:rPr kumimoji="0" lang="es-ES" sz="2400" b="1" i="0" u="none" strike="noStrike" kern="1200" cap="none" spc="0" normalizeH="0" baseline="0" noProof="0" dirty="0">
                <a:ln>
                  <a:noFill/>
                </a:ln>
                <a:solidFill>
                  <a:prstClr val="black"/>
                </a:solidFill>
                <a:effectLst/>
                <a:uLnTx/>
                <a:uFillTx/>
                <a:latin typeface="Calibri" panose="020F0502020204030204"/>
                <a:ea typeface="+mn-ea"/>
                <a:cs typeface="+mn-cs"/>
              </a:rPr>
              <a:t>.</a:t>
            </a:r>
          </a:p>
        </p:txBody>
      </p:sp>
    </p:spTree>
    <p:extLst>
      <p:ext uri="{BB962C8B-B14F-4D97-AF65-F5344CB8AC3E}">
        <p14:creationId xmlns:p14="http://schemas.microsoft.com/office/powerpoint/2010/main" val="724154885"/>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Marcador de contenido 2">
            <a:extLst>
              <a:ext uri="{FF2B5EF4-FFF2-40B4-BE49-F238E27FC236}">
                <a16:creationId xmlns:a16="http://schemas.microsoft.com/office/drawing/2014/main" id="{823DF5E5-5205-37F4-2546-2D4AD08D3566}"/>
              </a:ext>
            </a:extLst>
          </p:cNvPr>
          <p:cNvSpPr>
            <a:spLocks noGrp="1"/>
          </p:cNvSpPr>
          <p:nvPr>
            <p:ph idx="1"/>
          </p:nvPr>
        </p:nvSpPr>
        <p:spPr>
          <a:xfrm>
            <a:off x="553063" y="2141537"/>
            <a:ext cx="11304639" cy="4351338"/>
          </a:xfrm>
        </p:spPr>
        <p:txBody>
          <a:bodyPr/>
          <a:lstStyle/>
          <a:p>
            <a:pPr marL="0" indent="0">
              <a:lnSpc>
                <a:spcPct val="150000"/>
              </a:lnSpc>
              <a:spcBef>
                <a:spcPts val="0"/>
              </a:spcBef>
              <a:buNone/>
            </a:pPr>
            <a:r>
              <a:rPr lang="es-ES" dirty="0"/>
              <a:t> Para formular hipótesis es preciso conocer bien la </a:t>
            </a:r>
            <a:r>
              <a:rPr lang="es-ES" b="1" dirty="0">
                <a:solidFill>
                  <a:srgbClr val="FF0000"/>
                </a:solidFill>
              </a:rPr>
              <a:t>estructura interna del problema</a:t>
            </a:r>
            <a:r>
              <a:rPr lang="es-ES" dirty="0"/>
              <a:t>, analizando las partes o unidades que lo componen, como también su dinámica o relación con otros fenómenos. </a:t>
            </a:r>
          </a:p>
          <a:p>
            <a:pPr marL="0" indent="0">
              <a:lnSpc>
                <a:spcPct val="150000"/>
              </a:lnSpc>
              <a:spcBef>
                <a:spcPts val="0"/>
              </a:spcBef>
              <a:buNone/>
            </a:pPr>
            <a:r>
              <a:rPr lang="es-ES" dirty="0"/>
              <a:t>Ella permite localizar el </a:t>
            </a:r>
            <a:r>
              <a:rPr lang="es-ES" b="1" dirty="0">
                <a:solidFill>
                  <a:srgbClr val="FF0000"/>
                </a:solidFill>
              </a:rPr>
              <a:t>objeto de estudio </a:t>
            </a:r>
            <a:r>
              <a:rPr lang="es-ES" dirty="0"/>
              <a:t>en una situación real y concreta, precisando a la vez su naturaleza y vinculaciones con las diversas áreas del conocimiento.</a:t>
            </a:r>
          </a:p>
        </p:txBody>
      </p:sp>
    </p:spTree>
    <p:extLst>
      <p:ext uri="{BB962C8B-B14F-4D97-AF65-F5344CB8AC3E}">
        <p14:creationId xmlns:p14="http://schemas.microsoft.com/office/powerpoint/2010/main" val="1638008598"/>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Marcador de contenido 2">
            <a:extLst>
              <a:ext uri="{FF2B5EF4-FFF2-40B4-BE49-F238E27FC236}">
                <a16:creationId xmlns:a16="http://schemas.microsoft.com/office/drawing/2014/main" id="{3DDEA5B9-CF4E-5E1D-B042-8C4EF17EB5BC}"/>
              </a:ext>
            </a:extLst>
          </p:cNvPr>
          <p:cNvSpPr>
            <a:spLocks noGrp="1"/>
          </p:cNvSpPr>
          <p:nvPr>
            <p:ph idx="1"/>
          </p:nvPr>
        </p:nvSpPr>
        <p:spPr>
          <a:xfrm>
            <a:off x="333150" y="2370658"/>
            <a:ext cx="11137490" cy="3237989"/>
          </a:xfrm>
        </p:spPr>
        <p:txBody>
          <a:bodyPr>
            <a:normAutofit/>
          </a:bodyPr>
          <a:lstStyle/>
          <a:p>
            <a:pPr marL="0" indent="0" algn="ctr">
              <a:lnSpc>
                <a:spcPct val="150000"/>
              </a:lnSpc>
              <a:spcBef>
                <a:spcPts val="0"/>
              </a:spcBef>
              <a:buNone/>
            </a:pPr>
            <a:r>
              <a:rPr lang="es-ES" dirty="0">
                <a:latin typeface="Arial" panose="020B0604020202020204" pitchFamily="34" charset="0"/>
                <a:cs typeface="Arial" panose="020B0604020202020204" pitchFamily="34" charset="0"/>
              </a:rPr>
              <a:t>La hipótesis es una suposición científicamente fundamentada</a:t>
            </a:r>
          </a:p>
          <a:p>
            <a:pPr marL="0" indent="0" algn="ctr">
              <a:lnSpc>
                <a:spcPct val="150000"/>
              </a:lnSpc>
              <a:spcBef>
                <a:spcPts val="0"/>
              </a:spcBef>
              <a:buNone/>
            </a:pPr>
            <a:r>
              <a:rPr lang="es-ES" dirty="0">
                <a:latin typeface="Arial" panose="020B0604020202020204" pitchFamily="34" charset="0"/>
                <a:cs typeface="Arial" panose="020B0604020202020204" pitchFamily="34" charset="0"/>
              </a:rPr>
              <a:t>que constituye una probable respuesta anticipada al problema, se expresa en forma de enunciado afirmativo que enlaza</a:t>
            </a:r>
          </a:p>
          <a:p>
            <a:pPr marL="0" indent="0" algn="ctr">
              <a:lnSpc>
                <a:spcPct val="150000"/>
              </a:lnSpc>
              <a:spcBef>
                <a:spcPts val="0"/>
              </a:spcBef>
              <a:buNone/>
            </a:pPr>
            <a:r>
              <a:rPr lang="es-ES" b="1" u="sng" dirty="0">
                <a:solidFill>
                  <a:srgbClr val="FF0000"/>
                </a:solidFill>
                <a:latin typeface="Arial" panose="020B0604020202020204" pitchFamily="34" charset="0"/>
                <a:cs typeface="Arial" panose="020B0604020202020204" pitchFamily="34" charset="0"/>
              </a:rPr>
              <a:t>dos o más variables , el objeto de estudio y el campo de acción</a:t>
            </a:r>
          </a:p>
        </p:txBody>
      </p:sp>
    </p:spTree>
    <p:extLst>
      <p:ext uri="{BB962C8B-B14F-4D97-AF65-F5344CB8AC3E}">
        <p14:creationId xmlns:p14="http://schemas.microsoft.com/office/powerpoint/2010/main" val="916645533"/>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CuadroTexto 6">
            <a:extLst>
              <a:ext uri="{FF2B5EF4-FFF2-40B4-BE49-F238E27FC236}">
                <a16:creationId xmlns:a16="http://schemas.microsoft.com/office/drawing/2014/main" id="{65A73EDC-CB84-38F1-DCCD-53EE0BB103C5}"/>
              </a:ext>
            </a:extLst>
          </p:cNvPr>
          <p:cNvSpPr txBox="1"/>
          <p:nvPr/>
        </p:nvSpPr>
        <p:spPr>
          <a:xfrm>
            <a:off x="240890" y="2214235"/>
            <a:ext cx="11710219" cy="3890489"/>
          </a:xfrm>
          <a:prstGeom prst="rect">
            <a:avLst/>
          </a:prstGeom>
          <a:noFill/>
        </p:spPr>
        <p:txBody>
          <a:bodyPr wrap="square">
            <a:spAutoFit/>
          </a:bodyPr>
          <a:lstStyle/>
          <a:p>
            <a:pPr>
              <a:lnSpc>
                <a:spcPct val="150000"/>
              </a:lnSpc>
            </a:pPr>
            <a:r>
              <a:rPr lang="es-ES" sz="2800" dirty="0">
                <a:latin typeface="Arial" panose="020B0604020202020204" pitchFamily="34" charset="0"/>
                <a:cs typeface="Arial" panose="020B0604020202020204" pitchFamily="34" charset="0"/>
              </a:rPr>
              <a:t> La formulación está relacionada, además, con la finalidad de la investigación.</a:t>
            </a:r>
          </a:p>
          <a:p>
            <a:pPr>
              <a:lnSpc>
                <a:spcPct val="150000"/>
              </a:lnSpc>
            </a:pPr>
            <a:r>
              <a:rPr lang="es-ES" sz="2800" dirty="0">
                <a:latin typeface="Arial" panose="020B0604020202020204" pitchFamily="34" charset="0"/>
                <a:cs typeface="Arial" panose="020B0604020202020204" pitchFamily="34" charset="0"/>
              </a:rPr>
              <a:t>Si el objetivo planteado declara el establecimiento </a:t>
            </a:r>
            <a:r>
              <a:rPr lang="es-ES" sz="2800" b="1" dirty="0">
                <a:solidFill>
                  <a:srgbClr val="FF0000"/>
                </a:solidFill>
                <a:latin typeface="Arial" panose="020B0604020202020204" pitchFamily="34" charset="0"/>
                <a:cs typeface="Arial" panose="020B0604020202020204" pitchFamily="34" charset="0"/>
              </a:rPr>
              <a:t>de relaciones causales entre las variables de estudio</a:t>
            </a:r>
            <a:r>
              <a:rPr lang="es-ES" sz="2800" dirty="0">
                <a:latin typeface="Arial" panose="020B0604020202020204" pitchFamily="34" charset="0"/>
                <a:cs typeface="Arial" panose="020B0604020202020204" pitchFamily="34" charset="0"/>
              </a:rPr>
              <a:t>, las hipótesis son indispensables para orientar el proceso y estructurarlo siguiendo la lógica demostrativa (hipotético-deductiva).</a:t>
            </a:r>
          </a:p>
        </p:txBody>
      </p:sp>
    </p:spTree>
    <p:extLst>
      <p:ext uri="{BB962C8B-B14F-4D97-AF65-F5344CB8AC3E}">
        <p14:creationId xmlns:p14="http://schemas.microsoft.com/office/powerpoint/2010/main" val="3689346515"/>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Marcador de contenido 2">
            <a:extLst>
              <a:ext uri="{FF2B5EF4-FFF2-40B4-BE49-F238E27FC236}">
                <a16:creationId xmlns:a16="http://schemas.microsoft.com/office/drawing/2014/main" id="{E6C25694-5C07-F3AC-9A06-7C92E518EC9D}"/>
              </a:ext>
            </a:extLst>
          </p:cNvPr>
          <p:cNvSpPr>
            <a:spLocks noGrp="1"/>
          </p:cNvSpPr>
          <p:nvPr>
            <p:ph idx="1"/>
          </p:nvPr>
        </p:nvSpPr>
        <p:spPr>
          <a:xfrm>
            <a:off x="392307" y="2042692"/>
            <a:ext cx="10931013" cy="3336310"/>
          </a:xfrm>
        </p:spPr>
        <p:txBody>
          <a:bodyPr>
            <a:normAutofit/>
          </a:bodyPr>
          <a:lstStyle/>
          <a:p>
            <a:pPr marL="0" indent="0">
              <a:lnSpc>
                <a:spcPct val="170000"/>
              </a:lnSpc>
              <a:spcBef>
                <a:spcPts val="0"/>
              </a:spcBef>
              <a:buNone/>
            </a:pPr>
            <a:r>
              <a:rPr lang="es-ES" dirty="0"/>
              <a:t> En las investigaciones </a:t>
            </a:r>
            <a:r>
              <a:rPr lang="es-ES" b="1" dirty="0">
                <a:solidFill>
                  <a:srgbClr val="FF0000"/>
                </a:solidFill>
              </a:rPr>
              <a:t>descriptivas y exploratorias, generalmente</a:t>
            </a:r>
          </a:p>
          <a:p>
            <a:pPr marL="0" indent="0">
              <a:lnSpc>
                <a:spcPct val="170000"/>
              </a:lnSpc>
              <a:spcBef>
                <a:spcPts val="0"/>
              </a:spcBef>
              <a:buNone/>
            </a:pPr>
            <a:r>
              <a:rPr lang="es-ES" b="1" dirty="0">
                <a:solidFill>
                  <a:srgbClr val="FF0000"/>
                </a:solidFill>
              </a:rPr>
              <a:t>no se formulan hipótesis, </a:t>
            </a:r>
            <a:r>
              <a:rPr lang="es-ES" dirty="0"/>
              <a:t>pues en ocasiones es difícil precisar el valor que puede manifestar una variable, ya que el objeto investigado no se conoce aún en toda su realidad y magnitud.</a:t>
            </a:r>
          </a:p>
        </p:txBody>
      </p:sp>
    </p:spTree>
    <p:extLst>
      <p:ext uri="{BB962C8B-B14F-4D97-AF65-F5344CB8AC3E}">
        <p14:creationId xmlns:p14="http://schemas.microsoft.com/office/powerpoint/2010/main" val="380068650"/>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Marcador de contenido 2">
            <a:extLst>
              <a:ext uri="{FF2B5EF4-FFF2-40B4-BE49-F238E27FC236}">
                <a16:creationId xmlns:a16="http://schemas.microsoft.com/office/drawing/2014/main" id="{3F8D311D-38C7-05E2-A51D-D49642067E04}"/>
              </a:ext>
            </a:extLst>
          </p:cNvPr>
          <p:cNvSpPr>
            <a:spLocks noGrp="1"/>
          </p:cNvSpPr>
          <p:nvPr>
            <p:ph idx="1"/>
          </p:nvPr>
        </p:nvSpPr>
        <p:spPr>
          <a:xfrm>
            <a:off x="285136" y="2317238"/>
            <a:ext cx="11621728" cy="3542788"/>
          </a:xfrm>
        </p:spPr>
        <p:txBody>
          <a:bodyPr>
            <a:normAutofit/>
          </a:bodyPr>
          <a:lstStyle/>
          <a:p>
            <a:pPr marL="0" indent="0">
              <a:lnSpc>
                <a:spcPct val="150000"/>
              </a:lnSpc>
              <a:spcBef>
                <a:spcPts val="0"/>
              </a:spcBef>
              <a:buNone/>
            </a:pPr>
            <a:r>
              <a:rPr lang="es-ES" dirty="0">
                <a:latin typeface="Arial" panose="020B0604020202020204" pitchFamily="34" charset="0"/>
                <a:cs typeface="Arial" panose="020B0604020202020204" pitchFamily="34" charset="0"/>
              </a:rPr>
              <a:t>En una investigación se puede tener </a:t>
            </a:r>
            <a:r>
              <a:rPr lang="es-ES" dirty="0">
                <a:solidFill>
                  <a:srgbClr val="FF0000"/>
                </a:solidFill>
                <a:latin typeface="Arial" panose="020B0604020202020204" pitchFamily="34" charset="0"/>
                <a:cs typeface="Arial" panose="020B0604020202020204" pitchFamily="34" charset="0"/>
              </a:rPr>
              <a:t>una, dos o varias hipótesis, o ninguna como ya se ha señalado</a:t>
            </a:r>
            <a:r>
              <a:rPr lang="es-ES" dirty="0">
                <a:latin typeface="Arial" panose="020B0604020202020204" pitchFamily="34" charset="0"/>
                <a:cs typeface="Arial" panose="020B0604020202020204" pitchFamily="34" charset="0"/>
              </a:rPr>
              <a:t>. Las hipótesis indican lo que se busca o trata de probar, son explicaciones tentativas (y no hechos) del fenómeno investigado, formuladas a manera de proposiciones y pueden ser o no verdaderas. </a:t>
            </a:r>
          </a:p>
        </p:txBody>
      </p:sp>
    </p:spTree>
    <p:extLst>
      <p:ext uri="{BB962C8B-B14F-4D97-AF65-F5344CB8AC3E}">
        <p14:creationId xmlns:p14="http://schemas.microsoft.com/office/powerpoint/2010/main" val="4115267069"/>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Marcador de contenido 2">
            <a:extLst>
              <a:ext uri="{FF2B5EF4-FFF2-40B4-BE49-F238E27FC236}">
                <a16:creationId xmlns:a16="http://schemas.microsoft.com/office/drawing/2014/main" id="{7886D191-13EA-063D-1363-DA160BCE8554}"/>
              </a:ext>
            </a:extLst>
          </p:cNvPr>
          <p:cNvSpPr>
            <a:spLocks noGrp="1"/>
          </p:cNvSpPr>
          <p:nvPr>
            <p:ph idx="1"/>
          </p:nvPr>
        </p:nvSpPr>
        <p:spPr>
          <a:xfrm>
            <a:off x="356420" y="2513883"/>
            <a:ext cx="10515600" cy="2146607"/>
          </a:xfrm>
        </p:spPr>
        <p:txBody>
          <a:bodyPr>
            <a:normAutofit/>
          </a:bodyPr>
          <a:lstStyle/>
          <a:p>
            <a:pPr marL="0" indent="0">
              <a:lnSpc>
                <a:spcPct val="150000"/>
              </a:lnSpc>
              <a:spcBef>
                <a:spcPts val="0"/>
              </a:spcBef>
              <a:buNone/>
            </a:pPr>
            <a:r>
              <a:rPr lang="es-ES" dirty="0"/>
              <a:t>Es necesario destacar que existe una relación directa entre el título, el  problema ,los objetivos de la investigación y las hipótesis.</a:t>
            </a:r>
          </a:p>
          <a:p>
            <a:pPr marL="0" indent="0">
              <a:buNone/>
            </a:pPr>
            <a:endParaRPr lang="es-ES" dirty="0"/>
          </a:p>
        </p:txBody>
      </p:sp>
    </p:spTree>
    <p:extLst>
      <p:ext uri="{BB962C8B-B14F-4D97-AF65-F5344CB8AC3E}">
        <p14:creationId xmlns:p14="http://schemas.microsoft.com/office/powerpoint/2010/main" val="3444162527"/>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Marcador de contenido 2">
            <a:extLst>
              <a:ext uri="{FF2B5EF4-FFF2-40B4-BE49-F238E27FC236}">
                <a16:creationId xmlns:a16="http://schemas.microsoft.com/office/drawing/2014/main" id="{17257A96-8ACB-A4AF-7594-AC805FC37644}"/>
              </a:ext>
            </a:extLst>
          </p:cNvPr>
          <p:cNvSpPr>
            <a:spLocks noGrp="1"/>
          </p:cNvSpPr>
          <p:nvPr>
            <p:ph idx="1"/>
          </p:nvPr>
        </p:nvSpPr>
        <p:spPr>
          <a:xfrm>
            <a:off x="373626" y="2720361"/>
            <a:ext cx="10980174" cy="3532955"/>
          </a:xfrm>
        </p:spPr>
        <p:txBody>
          <a:bodyPr/>
          <a:lstStyle/>
          <a:p>
            <a:pPr marL="0" indent="0">
              <a:lnSpc>
                <a:spcPct val="150000"/>
              </a:lnSpc>
              <a:spcBef>
                <a:spcPts val="0"/>
              </a:spcBef>
              <a:buNone/>
            </a:pPr>
            <a:r>
              <a:rPr lang="es-ES" dirty="0"/>
              <a:t>La calidad de las hipótesis está relacionada, con el grado de exhaustividad con que se haya revisado la literatura (Marco teórico). Para que realmente puedan constituir las guías para organizar y sistematizar la investigación.</a:t>
            </a:r>
          </a:p>
        </p:txBody>
      </p:sp>
    </p:spTree>
    <p:extLst>
      <p:ext uri="{BB962C8B-B14F-4D97-AF65-F5344CB8AC3E}">
        <p14:creationId xmlns:p14="http://schemas.microsoft.com/office/powerpoint/2010/main" val="683986961"/>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Marcador de contenido 2">
            <a:extLst>
              <a:ext uri="{FF2B5EF4-FFF2-40B4-BE49-F238E27FC236}">
                <a16:creationId xmlns:a16="http://schemas.microsoft.com/office/drawing/2014/main" id="{620218DA-0386-9916-1255-7261966004BF}"/>
              </a:ext>
            </a:extLst>
          </p:cNvPr>
          <p:cNvSpPr>
            <a:spLocks noGrp="1"/>
          </p:cNvSpPr>
          <p:nvPr>
            <p:ph idx="1"/>
          </p:nvPr>
        </p:nvSpPr>
        <p:spPr/>
        <p:txBody>
          <a:bodyPr>
            <a:normAutofit/>
          </a:bodyPr>
          <a:lstStyle/>
          <a:p>
            <a:pPr marL="0" indent="0">
              <a:buNone/>
            </a:pPr>
            <a:r>
              <a:rPr lang="es-ES" sz="3600" dirty="0"/>
              <a:t>Clasificación de las hipótesis </a:t>
            </a:r>
          </a:p>
        </p:txBody>
      </p:sp>
      <p:pic>
        <p:nvPicPr>
          <p:cNvPr id="5" name="Imagen 4">
            <a:extLst>
              <a:ext uri="{FF2B5EF4-FFF2-40B4-BE49-F238E27FC236}">
                <a16:creationId xmlns:a16="http://schemas.microsoft.com/office/drawing/2014/main" id="{445EAC91-836E-733C-161F-23634BD39832}"/>
              </a:ext>
            </a:extLst>
          </p:cNvPr>
          <p:cNvPicPr>
            <a:picLocks noChangeAspect="1"/>
          </p:cNvPicPr>
          <p:nvPr/>
        </p:nvPicPr>
        <p:blipFill>
          <a:blip r:embed="rId2"/>
          <a:stretch>
            <a:fillRect/>
          </a:stretch>
        </p:blipFill>
        <p:spPr>
          <a:xfrm>
            <a:off x="452284" y="2933657"/>
            <a:ext cx="11218605" cy="2533078"/>
          </a:xfrm>
          <a:prstGeom prst="rect">
            <a:avLst/>
          </a:prstGeom>
        </p:spPr>
      </p:pic>
    </p:spTree>
    <p:extLst>
      <p:ext uri="{BB962C8B-B14F-4D97-AF65-F5344CB8AC3E}">
        <p14:creationId xmlns:p14="http://schemas.microsoft.com/office/powerpoint/2010/main" val="1270972625"/>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Marcador de contenido 2">
            <a:extLst>
              <a:ext uri="{FF2B5EF4-FFF2-40B4-BE49-F238E27FC236}">
                <a16:creationId xmlns:a16="http://schemas.microsoft.com/office/drawing/2014/main" id="{8679C50D-96A9-ADE2-AA13-E8538C50F8A9}"/>
              </a:ext>
            </a:extLst>
          </p:cNvPr>
          <p:cNvSpPr>
            <a:spLocks noGrp="1"/>
          </p:cNvSpPr>
          <p:nvPr>
            <p:ph idx="1"/>
          </p:nvPr>
        </p:nvSpPr>
        <p:spPr>
          <a:xfrm>
            <a:off x="560439" y="2435225"/>
            <a:ext cx="10793361" cy="4351338"/>
          </a:xfrm>
        </p:spPr>
        <p:txBody>
          <a:bodyPr>
            <a:normAutofit/>
          </a:bodyPr>
          <a:lstStyle/>
          <a:p>
            <a:pPr marL="0" indent="0">
              <a:lnSpc>
                <a:spcPct val="150000"/>
              </a:lnSpc>
              <a:spcBef>
                <a:spcPts val="0"/>
              </a:spcBef>
              <a:buNone/>
            </a:pPr>
            <a:r>
              <a:rPr lang="es-ES" dirty="0">
                <a:latin typeface="Arial" panose="020B0604020202020204" pitchFamily="34" charset="0"/>
                <a:cs typeface="Arial" panose="020B0604020202020204" pitchFamily="34" charset="0"/>
              </a:rPr>
              <a:t>Las hipótesis de investigación son proposiciones tentativas acerca de la o las posibles relaciones entre dos o más variables. Se les suele simbolizar como Hi o con números cuando son varias: H1, H2, H3, etc., y también se les denomina hipótesis de trabajo. </a:t>
            </a:r>
          </a:p>
        </p:txBody>
      </p:sp>
    </p:spTree>
    <p:extLst>
      <p:ext uri="{BB962C8B-B14F-4D97-AF65-F5344CB8AC3E}">
        <p14:creationId xmlns:p14="http://schemas.microsoft.com/office/powerpoint/2010/main" val="1504334368"/>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Marcador de contenido 2">
            <a:extLst>
              <a:ext uri="{FF2B5EF4-FFF2-40B4-BE49-F238E27FC236}">
                <a16:creationId xmlns:a16="http://schemas.microsoft.com/office/drawing/2014/main" id="{8E99951D-0F3C-F4F9-AD11-78916FC76B26}"/>
              </a:ext>
            </a:extLst>
          </p:cNvPr>
          <p:cNvSpPr>
            <a:spLocks noGrp="1"/>
          </p:cNvSpPr>
          <p:nvPr>
            <p:ph idx="1"/>
          </p:nvPr>
        </p:nvSpPr>
        <p:spPr>
          <a:xfrm>
            <a:off x="838199" y="1825625"/>
            <a:ext cx="11078497" cy="4351338"/>
          </a:xfrm>
        </p:spPr>
        <p:txBody>
          <a:bodyPr>
            <a:normAutofit/>
          </a:bodyPr>
          <a:lstStyle/>
          <a:p>
            <a:r>
              <a:rPr lang="es-ES" dirty="0"/>
              <a:t>A su vez, las hipótesis de investigación pueden ser: </a:t>
            </a:r>
          </a:p>
          <a:p>
            <a:endParaRPr lang="es-ES" dirty="0"/>
          </a:p>
          <a:p>
            <a:pPr marL="514350" indent="-514350">
              <a:buFont typeface="+mj-lt"/>
              <a:buAutoNum type="arabicPeriod"/>
            </a:pPr>
            <a:r>
              <a:rPr lang="es-ES" dirty="0"/>
              <a:t>Predictivas de un valor, cifra o dato en un tiempo determinado</a:t>
            </a:r>
          </a:p>
          <a:p>
            <a:pPr marL="514350" indent="-514350">
              <a:buFont typeface="+mj-lt"/>
              <a:buAutoNum type="arabicPeriod"/>
            </a:pPr>
            <a:r>
              <a:rPr lang="es-ES" dirty="0"/>
              <a:t>Correlacionales</a:t>
            </a:r>
          </a:p>
          <a:p>
            <a:pPr marL="514350" indent="-514350">
              <a:buFont typeface="+mj-lt"/>
              <a:buAutoNum type="arabicPeriod"/>
            </a:pPr>
            <a:r>
              <a:rPr lang="es-ES" dirty="0"/>
              <a:t>Comparación de grupos o categorías (direccionales y no direccionales)</a:t>
            </a:r>
          </a:p>
          <a:p>
            <a:pPr marL="514350" indent="-514350">
              <a:buFont typeface="+mj-lt"/>
              <a:buAutoNum type="arabicPeriod"/>
            </a:pPr>
            <a:r>
              <a:rPr lang="es-ES" dirty="0"/>
              <a:t>Causales (direccionales o no direccionales). </a:t>
            </a:r>
          </a:p>
          <a:p>
            <a:pPr marL="514350" indent="-514350">
              <a:buFont typeface="+mj-lt"/>
              <a:buAutoNum type="arabicPeriod"/>
            </a:pPr>
            <a:r>
              <a:rPr lang="es-ES" dirty="0"/>
              <a:t>Estadísticas </a:t>
            </a:r>
          </a:p>
        </p:txBody>
      </p:sp>
    </p:spTree>
    <p:extLst>
      <p:ext uri="{BB962C8B-B14F-4D97-AF65-F5344CB8AC3E}">
        <p14:creationId xmlns:p14="http://schemas.microsoft.com/office/powerpoint/2010/main" val="3756396457"/>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Marcador de contenido 2">
            <a:extLst>
              <a:ext uri="{FF2B5EF4-FFF2-40B4-BE49-F238E27FC236}">
                <a16:creationId xmlns:a16="http://schemas.microsoft.com/office/drawing/2014/main" id="{20A6C591-46F0-99F1-A745-FFB1E34B56F0}"/>
              </a:ext>
            </a:extLst>
          </p:cNvPr>
          <p:cNvSpPr>
            <a:spLocks noGrp="1"/>
          </p:cNvSpPr>
          <p:nvPr>
            <p:ph idx="1"/>
          </p:nvPr>
        </p:nvSpPr>
        <p:spPr>
          <a:xfrm>
            <a:off x="314632" y="2123768"/>
            <a:ext cx="11621729" cy="4593969"/>
          </a:xfrm>
        </p:spPr>
        <p:txBody>
          <a:bodyPr>
            <a:normAutofit/>
          </a:bodyPr>
          <a:lstStyle/>
          <a:p>
            <a:pPr marL="0" indent="0">
              <a:lnSpc>
                <a:spcPct val="150000"/>
              </a:lnSpc>
              <a:spcBef>
                <a:spcPts val="0"/>
              </a:spcBef>
              <a:buNone/>
            </a:pPr>
            <a:r>
              <a:rPr lang="es-ES" dirty="0">
                <a:latin typeface="Arial" panose="020B0604020202020204" pitchFamily="34" charset="0"/>
                <a:cs typeface="Arial" panose="020B0604020202020204" pitchFamily="34" charset="0"/>
              </a:rPr>
              <a:t>La utilidad de las hipótesis está determinada por las funciones siguientes que tienen en el proceso de la investigación científica:</a:t>
            </a:r>
          </a:p>
          <a:p>
            <a:pPr>
              <a:lnSpc>
                <a:spcPct val="150000"/>
              </a:lnSpc>
              <a:spcBef>
                <a:spcPts val="0"/>
              </a:spcBef>
            </a:pPr>
            <a:r>
              <a:rPr lang="es-ES" dirty="0">
                <a:latin typeface="Arial" panose="020B0604020202020204" pitchFamily="34" charset="0"/>
                <a:cs typeface="Arial" panose="020B0604020202020204" pitchFamily="34" charset="0"/>
              </a:rPr>
              <a:t>Son las guías de una investigación. Formularlas ayuda a saber lo que se trata de buscar, de probar. </a:t>
            </a:r>
          </a:p>
          <a:p>
            <a:pPr>
              <a:lnSpc>
                <a:spcPct val="150000"/>
              </a:lnSpc>
              <a:spcBef>
                <a:spcPts val="0"/>
              </a:spcBef>
            </a:pPr>
            <a:r>
              <a:rPr lang="es-ES" dirty="0">
                <a:latin typeface="Arial" panose="020B0604020202020204" pitchFamily="34" charset="0"/>
                <a:cs typeface="Arial" panose="020B0604020202020204" pitchFamily="34" charset="0"/>
              </a:rPr>
              <a:t> Tienen una función descriptiva y explicativa, según el caso.</a:t>
            </a:r>
          </a:p>
          <a:p>
            <a:pPr>
              <a:lnSpc>
                <a:spcPct val="150000"/>
              </a:lnSpc>
              <a:spcBef>
                <a:spcPts val="0"/>
              </a:spcBef>
            </a:pPr>
            <a:r>
              <a:rPr lang="es-ES" dirty="0">
                <a:latin typeface="Arial" panose="020B0604020202020204" pitchFamily="34" charset="0"/>
                <a:cs typeface="Arial" panose="020B0604020202020204" pitchFamily="34" charset="0"/>
              </a:rPr>
              <a:t> Probar y sugerir teorías. </a:t>
            </a:r>
          </a:p>
        </p:txBody>
      </p:sp>
    </p:spTree>
    <p:extLst>
      <p:ext uri="{BB962C8B-B14F-4D97-AF65-F5344CB8AC3E}">
        <p14:creationId xmlns:p14="http://schemas.microsoft.com/office/powerpoint/2010/main" val="1964453870"/>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4" name="Grupo 3">
            <a:extLst>
              <a:ext uri="{FF2B5EF4-FFF2-40B4-BE49-F238E27FC236}">
                <a16:creationId xmlns:a16="http://schemas.microsoft.com/office/drawing/2014/main" id="{D561CEA5-F9CD-3F5C-144F-0149863CE9C5}"/>
              </a:ext>
            </a:extLst>
          </p:cNvPr>
          <p:cNvGrpSpPr/>
          <p:nvPr/>
        </p:nvGrpSpPr>
        <p:grpSpPr>
          <a:xfrm>
            <a:off x="10156722" y="750116"/>
            <a:ext cx="1435510" cy="1505115"/>
            <a:chOff x="9842243" y="1929343"/>
            <a:chExt cx="2143125" cy="2143125"/>
          </a:xfrm>
        </p:grpSpPr>
        <p:pic>
          <p:nvPicPr>
            <p:cNvPr id="5" name="Picture 3" descr="Metodología de la Investigación - Tesis">
              <a:extLst>
                <a:ext uri="{FF2B5EF4-FFF2-40B4-BE49-F238E27FC236}">
                  <a16:creationId xmlns:a16="http://schemas.microsoft.com/office/drawing/2014/main" id="{791E1383-0D00-1FF9-FF81-8718B937C894}"/>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9842243" y="1929343"/>
              <a:ext cx="2143125" cy="2143125"/>
            </a:xfrm>
            <a:prstGeom prst="rect">
              <a:avLst/>
            </a:prstGeom>
            <a:noFill/>
            <a:extLst>
              <a:ext uri="{909E8E84-426E-40DD-AFC4-6F175D3DCCD1}">
                <a14:hiddenFill xmlns:a14="http://schemas.microsoft.com/office/drawing/2010/main">
                  <a:solidFill>
                    <a:srgbClr val="FFFFFF"/>
                  </a:solidFill>
                </a14:hiddenFill>
              </a:ext>
            </a:extLst>
          </p:spPr>
        </p:pic>
        <p:sp>
          <p:nvSpPr>
            <p:cNvPr id="6" name="Rectángulo 5">
              <a:extLst>
                <a:ext uri="{FF2B5EF4-FFF2-40B4-BE49-F238E27FC236}">
                  <a16:creationId xmlns:a16="http://schemas.microsoft.com/office/drawing/2014/main" id="{E0C95ABC-E1D2-FC43-05E1-96E36D2DEB75}"/>
                </a:ext>
              </a:extLst>
            </p:cNvPr>
            <p:cNvSpPr/>
            <p:nvPr/>
          </p:nvSpPr>
          <p:spPr>
            <a:xfrm>
              <a:off x="10658168" y="3510116"/>
              <a:ext cx="511277" cy="226142"/>
            </a:xfrm>
            <a:prstGeom prst="rect">
              <a:avLst/>
            </a:prstGeom>
            <a:solidFill>
              <a:schemeClr val="bg1"/>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ES"/>
            </a:p>
          </p:txBody>
        </p:sp>
      </p:grpSp>
      <p:sp>
        <p:nvSpPr>
          <p:cNvPr id="2" name="CuadroTexto 1">
            <a:extLst>
              <a:ext uri="{FF2B5EF4-FFF2-40B4-BE49-F238E27FC236}">
                <a16:creationId xmlns:a16="http://schemas.microsoft.com/office/drawing/2014/main" id="{70EEEC97-F505-ACC7-636A-F3A7C8E7A0D8}"/>
              </a:ext>
            </a:extLst>
          </p:cNvPr>
          <p:cNvSpPr txBox="1"/>
          <p:nvPr/>
        </p:nvSpPr>
        <p:spPr>
          <a:xfrm>
            <a:off x="972974" y="2397680"/>
            <a:ext cx="8780626" cy="3785652"/>
          </a:xfrm>
          <a:prstGeom prst="rect">
            <a:avLst/>
          </a:prstGeom>
          <a:noFill/>
        </p:spPr>
        <p:txBody>
          <a:bodyPr wrap="square" rtlCol="0">
            <a:spAutoFit/>
          </a:bodyPr>
          <a:lstStyle/>
          <a:p>
            <a:r>
              <a:rPr lang="es-ES" sz="4000" dirty="0"/>
              <a:t>¿Cuál es tu tema?</a:t>
            </a:r>
          </a:p>
          <a:p>
            <a:endParaRPr lang="es-ES" sz="4000" dirty="0"/>
          </a:p>
          <a:p>
            <a:r>
              <a:rPr lang="es-ES" sz="4000" dirty="0"/>
              <a:t>¿ Cuál es tu problema científico?</a:t>
            </a:r>
          </a:p>
          <a:p>
            <a:endParaRPr lang="es-ES" sz="4000" dirty="0"/>
          </a:p>
          <a:p>
            <a:r>
              <a:rPr lang="es-ES" sz="4000" dirty="0"/>
              <a:t>¿ Cuál es tu hipótesis?</a:t>
            </a:r>
          </a:p>
          <a:p>
            <a:endParaRPr lang="es-ES" sz="4000" dirty="0"/>
          </a:p>
        </p:txBody>
      </p:sp>
      <p:pic>
        <p:nvPicPr>
          <p:cNvPr id="3" name="Picture 2" descr="Imágenes de Doctor sorprendido libres de derechos | DepositPhotos">
            <a:extLst>
              <a:ext uri="{FF2B5EF4-FFF2-40B4-BE49-F238E27FC236}">
                <a16:creationId xmlns:a16="http://schemas.microsoft.com/office/drawing/2014/main" id="{DEE4BBFD-43B1-D19A-945A-26C5F1480388}"/>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8420456" y="2526891"/>
            <a:ext cx="3486407" cy="3116826"/>
          </a:xfrm>
          <a:prstGeom prst="ellipse">
            <a:avLst/>
          </a:prstGeom>
          <a:ln>
            <a:noFill/>
          </a:ln>
          <a:effectLst>
            <a:softEdge rad="112500"/>
          </a:effectLst>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303865366"/>
      </p:ext>
    </p:extLst>
  </p:cSld>
  <p:clrMapOvr>
    <a:masterClrMapping/>
  </p:clrMapOvr>
</p:sld>
</file>

<file path=ppt/theme/theme1.xml><?xml version="1.0" encoding="utf-8"?>
<a:theme xmlns:a="http://schemas.openxmlformats.org/drawingml/2006/main" name="1_Tema de Offic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494</TotalTime>
  <Words>1881</Words>
  <Application>Microsoft Office PowerPoint</Application>
  <PresentationFormat>Panorámica</PresentationFormat>
  <Paragraphs>162</Paragraphs>
  <Slides>44</Slides>
  <Notes>0</Notes>
  <HiddenSlides>0</HiddenSlides>
  <MMClips>0</MMClips>
  <ScaleCrop>false</ScaleCrop>
  <HeadingPairs>
    <vt:vector size="6" baseType="variant">
      <vt:variant>
        <vt:lpstr>Fuentes usadas</vt:lpstr>
      </vt:variant>
      <vt:variant>
        <vt:i4>4</vt:i4>
      </vt:variant>
      <vt:variant>
        <vt:lpstr>Tema</vt:lpstr>
      </vt:variant>
      <vt:variant>
        <vt:i4>1</vt:i4>
      </vt:variant>
      <vt:variant>
        <vt:lpstr>Títulos de diapositiva</vt:lpstr>
      </vt:variant>
      <vt:variant>
        <vt:i4>44</vt:i4>
      </vt:variant>
    </vt:vector>
  </HeadingPairs>
  <TitlesOfParts>
    <vt:vector size="49" baseType="lpstr">
      <vt:lpstr>Arial</vt:lpstr>
      <vt:lpstr>Calibri</vt:lpstr>
      <vt:lpstr>Calibri Light</vt:lpstr>
      <vt:lpstr>fkGroteskNeue</vt:lpstr>
      <vt:lpstr>1_Tema de Office</vt:lpstr>
      <vt:lpstr>Presentación de PowerPoint</vt:lpstr>
      <vt:lpstr>Presentación de PowerPoint</vt:lpstr>
      <vt:lpstr>Requisitos necesarios para la enunciación del problema</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SanderPC</dc:creator>
  <cp:lastModifiedBy>SanderPC</cp:lastModifiedBy>
  <cp:revision>25</cp:revision>
  <dcterms:created xsi:type="dcterms:W3CDTF">2025-09-19T01:43:07Z</dcterms:created>
  <dcterms:modified xsi:type="dcterms:W3CDTF">2025-10-07T22:29:37Z</dcterms:modified>
</cp:coreProperties>
</file>